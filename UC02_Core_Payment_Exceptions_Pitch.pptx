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Payment exceptions are a translation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A customer story must become a rail-specific, deadline-aware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01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874519"/>
            <a:ext cx="4663440" cy="4160520"/>
          </a:xfrm>
          <a:prstGeom prst="roundRect">
            <a:avLst/>
          </a:prstGeom>
          <a:solidFill>
            <a:srgbClr val="0C1D2B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14884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6F5E"/>
                </a:solidFill>
                <a:latin typeface="Aptos"/>
              </a:rPr>
              <a:t>CUSTOMER NARRATIVE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2606040"/>
            <a:ext cx="3931920" cy="960120"/>
          </a:xfrm>
          <a:prstGeom prst="roundRect">
            <a:avLst/>
          </a:prstGeom>
          <a:solidFill>
            <a:srgbClr val="223644"/>
          </a:solidFill>
          <a:ln w="10160">
            <a:solidFill>
              <a:srgbClr val="3C5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2816352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DF6F8"/>
                </a:solidFill>
                <a:latin typeface="Aptos"/>
              </a:rPr>
              <a:t>"About 8k to the plumber last Tuesday."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690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B1BC"/>
                </a:solidFill>
                <a:latin typeface="Aptos"/>
              </a:rPr>
              <a:t>Free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06908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amount? date? beneficiary? rail? reason?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091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B1BC"/>
                </a:solidFill>
                <a:latin typeface="Aptos"/>
              </a:rPr>
              <a:t>Manual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709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search ledger -&gt; identify payment -&gt; apply policy -&gt; meet deadline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1874519"/>
            <a:ext cx="5943600" cy="4160520"/>
          </a:xfrm>
          <a:prstGeom prst="roundRect">
            <a:avLst/>
          </a:prstGeom>
          <a:solidFill>
            <a:srgbClr val="0C1D2B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214884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FOUR RAILS. FOUR DECISION CONTEXTS.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2697480"/>
            <a:ext cx="2331720" cy="77724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283464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8D4CD"/>
                </a:solidFill>
                <a:latin typeface="Aptos"/>
              </a:rPr>
              <a:t>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472" y="313639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return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2697480"/>
            <a:ext cx="2331720" cy="77724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14232" y="283464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B76A"/>
                </a:solidFill>
                <a:latin typeface="Aptos"/>
              </a:rPr>
              <a:t>WIRE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4232" y="313639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investigation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3749039"/>
            <a:ext cx="2331720" cy="77724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38862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747C"/>
                </a:solidFill>
                <a:latin typeface="Aptos"/>
              </a:rPr>
              <a:t>RTP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62472" y="418795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finality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749039"/>
            <a:ext cx="2331720" cy="77724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14232" y="388620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747C"/>
                </a:solidFill>
                <a:latin typeface="Aptos"/>
              </a:rPr>
              <a:t>FEDNOW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14232" y="4187952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finality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489204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4CD"/>
                </a:solidFill>
                <a:latin typeface="Apto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910327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rails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489204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B76A"/>
                </a:solidFill>
                <a:latin typeface="Aptos"/>
              </a:rPr>
              <a:t>60d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910327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control window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548640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C8CF5"/>
                </a:solidFill>
                <a:latin typeface="Aptos"/>
              </a:rPr>
              <a:t>6,000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50468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synthetic payments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48640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6F5E"/>
                </a:solidFill>
                <a:latin typeface="Apto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50468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human approval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AI accelerates understanding. Rules retain authority.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Probabilistic analysis sits inside a deterministic compliance control plane.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02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965960"/>
            <a:ext cx="4937760" cy="3977639"/>
          </a:xfrm>
          <a:prstGeom prst="roundRect">
            <a:avLst/>
          </a:prstGeom>
          <a:solidFill>
            <a:srgbClr val="142339"/>
          </a:solidFill>
          <a:ln w="10160">
            <a:solidFill>
              <a:srgbClr val="484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240280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8CF5"/>
                </a:solidFill>
                <a:latin typeface="Aptos"/>
              </a:rPr>
              <a:t>PROBABILISTIC AI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2697480"/>
            <a:ext cx="4343400" cy="438912"/>
          </a:xfrm>
          <a:prstGeom prst="roundRect">
            <a:avLst/>
          </a:prstGeom>
          <a:solidFill>
            <a:srgbClr val="1F3049"/>
          </a:solidFill>
          <a:ln w="10160">
            <a:solidFill>
              <a:srgbClr val="3F4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281635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IntakeAI  / extract facts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337560"/>
            <a:ext cx="4343400" cy="438912"/>
          </a:xfrm>
          <a:prstGeom prst="roundRect">
            <a:avLst/>
          </a:prstGeom>
          <a:solidFill>
            <a:srgbClr val="1F3049"/>
          </a:solidFill>
          <a:ln w="10160">
            <a:solidFill>
              <a:srgbClr val="3F4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345643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MatchingAI  / rank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977639"/>
            <a:ext cx="4343400" cy="438912"/>
          </a:xfrm>
          <a:prstGeom prst="roundRect">
            <a:avLst/>
          </a:prstGeom>
          <a:solidFill>
            <a:srgbClr val="1F3049"/>
          </a:solidFill>
          <a:ln w="10160">
            <a:solidFill>
              <a:srgbClr val="3F4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409651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ClassificationAI  / classify intent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617720"/>
            <a:ext cx="4343400" cy="438912"/>
          </a:xfrm>
          <a:prstGeom prst="roundRect">
            <a:avLst/>
          </a:prstGeom>
          <a:solidFill>
            <a:srgbClr val="1F3049"/>
          </a:solidFill>
          <a:ln w="10160">
            <a:solidFill>
              <a:srgbClr val="3F4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473659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DraftingAI  / explain outcome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06440" y="1965960"/>
            <a:ext cx="5760720" cy="3977639"/>
          </a:xfrm>
          <a:prstGeom prst="roundRect">
            <a:avLst/>
          </a:prstGeom>
          <a:solidFill>
            <a:srgbClr val="0C3033"/>
          </a:solidFill>
          <a:ln w="10160">
            <a:solidFill>
              <a:srgbClr val="277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24028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DETERMINISTIC COMPLIANCE 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2697480"/>
            <a:ext cx="5212080" cy="438912"/>
          </a:xfrm>
          <a:prstGeom prst="roundRect">
            <a:avLst/>
          </a:prstGeom>
          <a:solidFill>
            <a:srgbClr val="114445"/>
          </a:solidFill>
          <a:ln w="10160">
            <a:solidFill>
              <a:srgbClr val="2D7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816352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Step 5-6  / rail rules + deadlines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3337560"/>
            <a:ext cx="5212080" cy="438912"/>
          </a:xfrm>
          <a:prstGeom prst="roundRect">
            <a:avLst/>
          </a:prstGeom>
          <a:solidFill>
            <a:srgbClr val="114445"/>
          </a:solidFill>
          <a:ln w="10160">
            <a:solidFill>
              <a:srgbClr val="2D7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3456432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Candidate confidence + ambiguity gates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3977639"/>
            <a:ext cx="5212080" cy="438912"/>
          </a:xfrm>
          <a:prstGeom prst="roundRect">
            <a:avLst/>
          </a:prstGeom>
          <a:solidFill>
            <a:srgbClr val="114445"/>
          </a:solidFill>
          <a:ln w="10160">
            <a:solidFill>
              <a:srgbClr val="2D7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4096512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Human approval before submission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0760" y="4617720"/>
            <a:ext cx="5212080" cy="438912"/>
          </a:xfrm>
          <a:prstGeom prst="roundRect">
            <a:avLst/>
          </a:prstGeom>
          <a:solidFill>
            <a:srgbClr val="114445"/>
          </a:solidFill>
          <a:ln w="10160">
            <a:solidFill>
              <a:srgbClr val="2D7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4736592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DF6F8"/>
                </a:solidFill>
                <a:latin typeface="Aptos"/>
              </a:rPr>
              <a:t>Step 8  / PII masking + trace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66360" y="3063240"/>
            <a:ext cx="960120" cy="960120"/>
          </a:xfrm>
          <a:prstGeom prst="roundRect">
            <a:avLst/>
          </a:prstGeom>
          <a:solidFill>
            <a:srgbClr val="F06F5E"/>
          </a:solidFill>
          <a:ln w="10160">
            <a:solidFill>
              <a:srgbClr val="F06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3310128"/>
            <a:ext cx="960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7111C"/>
                </a:solidFill>
                <a:latin typeface="Aptos"/>
              </a:rPr>
              <a:t>AI
recommends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75504" y="4206240"/>
            <a:ext cx="941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06F5E"/>
                </a:solidFill>
                <a:latin typeface="Aptos"/>
              </a:rPr>
              <a:t>POLICY
decides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AI IN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From “the plumber” to an evidence-backed candidate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IntakeAI preserves uncertainty; MatchingAI makes the search explainable.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03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011680"/>
            <a:ext cx="3337560" cy="1874519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F06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2128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6F5E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2267712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06F5E"/>
                </a:solidFill>
                <a:latin typeface="Aptos"/>
              </a:rPr>
              <a:t>CUSTOMER NARRATIVE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7889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F6F8"/>
                </a:solidFill>
                <a:latin typeface="Aptos"/>
              </a:rPr>
              <a:t>"I sent around eight thousand to the plumber last Tuesday."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27432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06F5E"/>
                </a:solidFill>
                <a:latin typeface="Aptos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2011680"/>
            <a:ext cx="3337560" cy="1874519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EA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22128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AB76A"/>
                </a:solidFill>
                <a:latin typeface="Apto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2267712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AB76A"/>
                </a:solidFill>
                <a:latin typeface="Aptos"/>
              </a:rPr>
              <a:t>STRUCTURED 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27889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F6F8"/>
                </a:solidFill>
                <a:latin typeface="Aptos"/>
              </a:rPr>
              <a:t>~8,000  |  beneficiary clue: plumber  |  relative 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7432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EAB76A"/>
                </a:solidFill>
                <a:latin typeface="Aptos"/>
              </a:rP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11896" y="2011680"/>
            <a:ext cx="3337560" cy="1874519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6" y="22128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8D4CD"/>
                </a:solidFill>
                <a:latin typeface="Aptos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267712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8D4CD"/>
                </a:solidFill>
                <a:latin typeface="Aptos"/>
              </a:rPr>
              <a:t>OFFICIAL CANDIDATE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4776" y="27889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F6F8"/>
                </a:solidFill>
                <a:latin typeface="Aptos"/>
              </a:rPr>
              <a:t>John Doe Plumbing LLC
USD 7,950  |  96% match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343400"/>
            <a:ext cx="10972800" cy="1417320"/>
          </a:xfrm>
          <a:prstGeom prst="roundRect">
            <a:avLst/>
          </a:prstGeom>
          <a:solidFill>
            <a:srgbClr val="051018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5371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8D4CD"/>
                </a:solidFill>
                <a:latin typeface="DM Mono"/>
              </a:rPr>
              <a:t>AI COGNITIVE ROUTING / REASONING TRACE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9194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DM Mono"/>
              </a:rPr>
              <a:t>match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4919472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DF6F8"/>
                </a:solidFill>
                <a:latin typeface="DM Mono"/>
              </a:rPr>
              <a:t>Found closest match 'John Doe Plumbing LLC' for $7,950. Date tolerance accepted (+1 day deviation).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28523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DM Mono"/>
              </a:rPr>
              <a:t>guard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5285232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7B1BC"/>
                </a:solidFill>
                <a:latin typeface="DM Mono"/>
              </a:rPr>
              <a:t>Candidate evidence is surfaced for operator review; ambiguity triggers clarification, never silent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BUSINESS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The clock decides what automation is allowed to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Deadline enforcement and rail finality are explicit, not hidden in a prompt.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04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965960"/>
            <a:ext cx="10972800" cy="201168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22199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PAYMENT VALUE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42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F6F8"/>
                </a:solidFill>
                <a:latin typeface="Aptos"/>
              </a:rPr>
              <a:t>DAY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25420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B76A"/>
                </a:solidFill>
                <a:latin typeface="Aptos"/>
              </a:rPr>
              <a:t>30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290779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ERRONEOUS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420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8D4CD"/>
                </a:solidFill>
                <a:latin typeface="Aptos"/>
              </a:rPr>
              <a:t>60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90779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UNAUTHORISED / SCAM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54203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747C"/>
                </a:solidFill>
                <a:latin typeface="Aptos"/>
              </a:rPr>
              <a:t>DAY 61+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290779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AUTOMATIC BLOCK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383280"/>
            <a:ext cx="10012680" cy="73152"/>
          </a:xfrm>
          <a:prstGeom prst="rect">
            <a:avLst/>
          </a:prstGeom>
          <a:solidFill>
            <a:srgbClr val="58D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4400" y="3246120"/>
            <a:ext cx="347472" cy="347472"/>
          </a:xfrm>
          <a:prstGeom prst="ellipse">
            <a:avLst/>
          </a:prstGeom>
          <a:solidFill>
            <a:srgbClr val="58D4CD"/>
          </a:solidFill>
          <a:ln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08960" y="3246120"/>
            <a:ext cx="347472" cy="347472"/>
          </a:xfrm>
          <a:prstGeom prst="ellipse">
            <a:avLst/>
          </a:prstGeom>
          <a:solidFill>
            <a:srgbClr val="EAB76A"/>
          </a:solidFill>
          <a:ln>
            <a:solidFill>
              <a:srgbClr val="EA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7960" y="3246120"/>
            <a:ext cx="347472" cy="347472"/>
          </a:xfrm>
          <a:prstGeom prst="ellipse">
            <a:avLst/>
          </a:prstGeom>
          <a:solidFill>
            <a:srgbClr val="58D4CD"/>
          </a:solidFill>
          <a:ln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58400" y="3246120"/>
            <a:ext cx="347472" cy="347472"/>
          </a:xfrm>
          <a:prstGeom prst="ellipse">
            <a:avLst/>
          </a:prstGeom>
          <a:solidFill>
            <a:srgbClr val="EF747C"/>
          </a:solidFill>
          <a:ln>
            <a:solidFill>
              <a:srgbClr val="E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4343400"/>
            <a:ext cx="5257800" cy="1325880"/>
          </a:xfrm>
          <a:prstGeom prst="roundRect">
            <a:avLst/>
          </a:prstGeom>
          <a:solidFill>
            <a:srgbClr val="0C3738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599432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IN-WINDOW ACH / WIRE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91947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F6F8"/>
                </a:solidFill>
                <a:latin typeface="Aptos"/>
              </a:rPr>
              <a:t>Simulated request raised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321808"/>
            <a:ext cx="4389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DM Mono"/>
              </a:rPr>
              <a:t>IR-ACH-8F41C2  |  No guaranteed recovery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343400"/>
            <a:ext cx="5257800" cy="1325880"/>
          </a:xfrm>
          <a:prstGeom prst="roundRect">
            <a:avLst/>
          </a:prstGeom>
          <a:solidFill>
            <a:srgbClr val="421E27"/>
          </a:solidFill>
          <a:ln w="10160">
            <a:solidFill>
              <a:srgbClr val="E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599432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F747C"/>
                </a:solidFill>
                <a:latin typeface="Aptos"/>
              </a:rPr>
              <a:t>EXPIRED OR INSTANT FINALITY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9194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F6F8"/>
                </a:solidFill>
                <a:latin typeface="Aptos"/>
              </a:rPr>
              <a:t>No-remedy / manual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32180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DM Mono"/>
              </a:rPr>
              <a:t>No late automatic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WOW FACTOR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Time-travel the rulebook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A live SLA tester turns policy behavior into something an operator can see and challenge.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05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965960"/>
            <a:ext cx="10972800" cy="150876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22199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SIMULATE TRANSACTION AGE  /  SLA TESTER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21284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AB76A"/>
                </a:solidFill>
                <a:latin typeface="Aptos"/>
              </a:rPr>
              <a:t>DAY 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0604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AB76A"/>
                </a:solidFill>
                <a:latin typeface="Aptos"/>
              </a:rPr>
              <a:t>APPROACHING DEADLINE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108960"/>
            <a:ext cx="9966960" cy="91440"/>
          </a:xfrm>
          <a:prstGeom prst="rect">
            <a:avLst/>
          </a:prstGeom>
          <a:solidFill>
            <a:srgbClr val="3C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2953512"/>
            <a:ext cx="411480" cy="411480"/>
          </a:xfrm>
          <a:prstGeom prst="ellipse">
            <a:avLst/>
          </a:prstGeom>
          <a:solidFill>
            <a:srgbClr val="58D4CD"/>
          </a:solidFill>
          <a:ln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79" y="2953512"/>
            <a:ext cx="411480" cy="411480"/>
          </a:xfrm>
          <a:prstGeom prst="ellipse">
            <a:avLst/>
          </a:prstGeom>
          <a:solidFill>
            <a:srgbClr val="EAB76A"/>
          </a:solidFill>
          <a:ln>
            <a:solidFill>
              <a:srgbClr val="EA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0" y="2953512"/>
            <a:ext cx="411480" cy="411480"/>
          </a:xfrm>
          <a:prstGeom prst="ellipse">
            <a:avLst/>
          </a:prstGeom>
          <a:solidFill>
            <a:srgbClr val="EF747C"/>
          </a:solidFill>
          <a:ln>
            <a:solidFill>
              <a:srgbClr val="E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319272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8D4CD"/>
                </a:solidFill>
                <a:latin typeface="Aptos"/>
              </a:rPr>
              <a:t>10 days  /  SAFE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31927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AB76A"/>
                </a:solidFill>
                <a:latin typeface="Aptos"/>
              </a:rPr>
              <a:t>60-day threshold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319272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F747C"/>
                </a:solidFill>
                <a:latin typeface="Aptos"/>
              </a:rPr>
              <a:t>70 days  /  NO REMEDY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069080"/>
            <a:ext cx="329184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31596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4CD"/>
                </a:solidFill>
                <a:latin typeface="Aptos"/>
              </a:rPr>
              <a:t>GREEN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709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F6F8"/>
                </a:solidFill>
                <a:latin typeface="Aptos"/>
              </a:rPr>
              <a:t>Automatic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3892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Same case. Different policy outcome.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4069080"/>
            <a:ext cx="329184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EA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431596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AB76A"/>
                </a:solidFill>
                <a:latin typeface="Aptos"/>
              </a:rPr>
              <a:t>AMBER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709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F6F8"/>
                </a:solidFill>
                <a:latin typeface="Aptos"/>
              </a:rPr>
              <a:t>Analyst attention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3892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Same case. Different policy outcome.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069080"/>
            <a:ext cx="329184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E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431596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F747C"/>
                </a:solidFill>
                <a:latin typeface="Aptos"/>
              </a:rPr>
              <a:t>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7091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DF6F8"/>
                </a:solidFill>
                <a:latin typeface="Aptos"/>
              </a:rPr>
              <a:t>No-remedy active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13892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Same case. Different policy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WOW FACTOR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Agentic Smart Audit: context before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Three specialist checks prepare the operator; none can bypass deterministic policy or human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06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920240"/>
            <a:ext cx="6537960" cy="4069080"/>
          </a:xfrm>
          <a:prstGeom prst="roundRect">
            <a:avLst/>
          </a:prstGeom>
          <a:solidFill>
            <a:srgbClr val="1C1B3B"/>
          </a:solidFill>
          <a:ln w="10160">
            <a:solidFill>
              <a:srgbClr val="9C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19456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8CF5"/>
                </a:solidFill>
                <a:latin typeface="Aptos"/>
              </a:rPr>
              <a:t>AGENTIC SMART AUDIT VERDICT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" y="2697480"/>
            <a:ext cx="1600200" cy="777240"/>
          </a:xfrm>
          <a:prstGeom prst="roundRect">
            <a:avLst/>
          </a:prstGeom>
          <a:solidFill>
            <a:srgbClr val="27274C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2862072"/>
            <a:ext cx="1325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8D4CD"/>
                </a:solidFill>
                <a:latin typeface="Aptos"/>
              </a:rPr>
              <a:t>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318211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DF6F8"/>
                </a:solidFill>
                <a:latin typeface="Aptos"/>
              </a:rPr>
              <a:t>94%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62072" y="2697480"/>
            <a:ext cx="1600200" cy="777240"/>
          </a:xfrm>
          <a:prstGeom prst="roundRect">
            <a:avLst/>
          </a:prstGeom>
          <a:solidFill>
            <a:srgbClr val="27274C"/>
          </a:solidFill>
          <a:ln w="10160">
            <a:solidFill>
              <a:srgbClr val="EA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9232" y="2862072"/>
            <a:ext cx="1325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AB76A"/>
                </a:solidFill>
                <a:latin typeface="Aptos"/>
              </a:rPr>
              <a:t>POLICY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318211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DF6F8"/>
                </a:solidFill>
                <a:latin typeface="Aptos"/>
              </a:rPr>
              <a:t>60-day 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28031" y="2697480"/>
            <a:ext cx="1600200" cy="777240"/>
          </a:xfrm>
          <a:prstGeom prst="roundRect">
            <a:avLst/>
          </a:prstGeom>
          <a:solidFill>
            <a:srgbClr val="27274C"/>
          </a:solidFill>
          <a:ln w="10160">
            <a:solidFill>
              <a:srgbClr val="9C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2862072"/>
            <a:ext cx="1325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9C8CF5"/>
                </a:solidFill>
                <a:latin typeface="Aptos"/>
              </a:rPr>
              <a:t>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318211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DF6F8"/>
                </a:solidFill>
                <a:latin typeface="Aptos"/>
              </a:rPr>
              <a:t>12% 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3977639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EAB76A"/>
                </a:solidFill>
                <a:latin typeface="Aptos"/>
              </a:rPr>
              <a:t>BEHAVIORAL FLAG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2976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DF6F8"/>
                </a:solidFill>
                <a:latin typeface="Aptos"/>
              </a:rPr>
              <a:t>Customer has historical high reliability. 0 past buyer's remorse claims in 12 months.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892040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C8CF5"/>
                </a:solidFill>
                <a:latin typeface="Aptos"/>
              </a:rPr>
              <a:t>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21208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F6F8"/>
                </a:solidFill>
                <a:latin typeface="Aptos"/>
              </a:rPr>
              <a:t>Safe to approve simulated interbank recovery request.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1920240"/>
            <a:ext cx="4114800" cy="406908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54112" y="2267712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4CD"/>
                </a:solidFill>
                <a:latin typeface="Aptos"/>
              </a:rPr>
              <a:t>HUMAN APPROVAL REQUIRED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4112" y="28803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DF6F8"/>
                </a:solidFill>
                <a:latin typeface="Aptos"/>
              </a:rPr>
              <a:t>AI prepares the case.
The operator owns the action.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4112" y="4892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Pre-audit context, not autonomous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C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DEFINITION OF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5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DF6F8"/>
                </a:solidFill>
                <a:latin typeface="Aptos Display"/>
              </a:rPr>
              <a:t>Faster decisions. Fewer unsafe submissions. Better explanations.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12710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7B1BC"/>
                </a:solidFill>
                <a:latin typeface="Aptos"/>
              </a:rPr>
              <a:t>UC-02 measures operational quality, not just chatbot response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7B1BC"/>
                </a:solidFill>
                <a:latin typeface="Aptos"/>
              </a:rPr>
              <a:t>CLEARLINE  /  UC-02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3796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97B1BC"/>
                </a:solidFill>
                <a:latin typeface="Aptos"/>
              </a:rPr>
              <a:t>07  /  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011680"/>
            <a:ext cx="246888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26771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651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6F8"/>
                </a:solidFill>
                <a:latin typeface="Aptos"/>
              </a:rPr>
              <a:t>Extract facts
Rank candidates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79" y="2011680"/>
            <a:ext cx="246888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EAB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226771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AB76A"/>
                </a:solidFill>
                <a:latin typeface="Aptos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651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6F8"/>
                </a:solidFill>
                <a:latin typeface="Aptos"/>
              </a:rPr>
              <a:t>Rail + deadline
gates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011680"/>
            <a:ext cx="246888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9C8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26771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C8CF5"/>
                </a:solidFill>
                <a:latin typeface="Aptos"/>
              </a:rPr>
              <a:t>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651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6F8"/>
                </a:solidFill>
                <a:latin typeface="Aptos"/>
              </a:rPr>
              <a:t>Abstain instead
of guessing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19" y="2011680"/>
            <a:ext cx="2468880" cy="141732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F06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3999" y="226771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6F5E"/>
                </a:solidFill>
                <a:latin typeface="Aptos"/>
              </a:rPr>
              <a:t>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999" y="2651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F6F8"/>
                </a:solidFill>
                <a:latin typeface="Aptos"/>
              </a:rPr>
              <a:t>Audit + redaction
+ honest outcomes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840480"/>
            <a:ext cx="6492240" cy="1920240"/>
          </a:xfrm>
          <a:prstGeom prst="roundRect">
            <a:avLst/>
          </a:prstGeom>
          <a:solidFill>
            <a:srgbClr val="0F2737"/>
          </a:solidFill>
          <a:ln w="10160">
            <a:solidFill>
              <a:srgbClr val="2B4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09651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OPERATIONAL SCORECARD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46227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Matched cases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4498848"/>
            <a:ext cx="3200400" cy="109728"/>
          </a:xfrm>
          <a:prstGeom prst="rect">
            <a:avLst/>
          </a:prstGeom>
          <a:solidFill>
            <a:srgbClr val="23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26080" y="4498848"/>
            <a:ext cx="2304288" cy="109728"/>
          </a:xfrm>
          <a:prstGeom prst="rect">
            <a:avLst/>
          </a:prstGeom>
          <a:solidFill>
            <a:srgbClr val="58D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4348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4CD"/>
                </a:solidFill>
                <a:latin typeface="Aptos"/>
              </a:rPr>
              <a:t>72%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85546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Clarification / abstention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892040"/>
            <a:ext cx="3200400" cy="109728"/>
          </a:xfrm>
          <a:prstGeom prst="rect">
            <a:avLst/>
          </a:prstGeom>
          <a:solidFill>
            <a:srgbClr val="23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26080" y="4892040"/>
            <a:ext cx="1056132" cy="109728"/>
          </a:xfrm>
          <a:prstGeom prst="rect">
            <a:avLst/>
          </a:prstGeom>
          <a:solidFill>
            <a:srgbClr val="EA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828031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AB76A"/>
                </a:solidFill>
                <a:latin typeface="Aptos"/>
              </a:rPr>
              <a:t>33%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248656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Human classification overrides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5285232"/>
            <a:ext cx="3200400" cy="109728"/>
          </a:xfrm>
          <a:prstGeom prst="rect">
            <a:avLst/>
          </a:prstGeom>
          <a:solidFill>
            <a:srgbClr val="23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26080" y="5285232"/>
            <a:ext cx="544068" cy="109728"/>
          </a:xfrm>
          <a:prstGeom prst="rect">
            <a:avLst/>
          </a:prstGeom>
          <a:solidFill>
            <a:srgbClr val="9C8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22122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C8CF5"/>
                </a:solidFill>
                <a:latin typeface="Aptos"/>
              </a:rPr>
              <a:t>17%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06640" y="3840480"/>
            <a:ext cx="4160520" cy="1920240"/>
          </a:xfrm>
          <a:prstGeom prst="roundRect">
            <a:avLst/>
          </a:prstGeom>
          <a:solidFill>
            <a:srgbClr val="0C3738"/>
          </a:solidFill>
          <a:ln w="10160">
            <a:solidFill>
              <a:srgbClr val="58D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99248" y="411480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8D4CD"/>
                </a:solidFill>
                <a:latin typeface="Aptos"/>
              </a:rPr>
              <a:t>THE UC-02 PROMISE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9248" y="45262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F6F8"/>
                </a:solidFill>
                <a:latin typeface="Aptos"/>
              </a:rPr>
              <a:t>Probabilistic understanding
inside a deterministic
compliance boundary.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99248" y="548640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7B1BC"/>
                </a:solidFill>
                <a:latin typeface="Aptos"/>
              </a:rPr>
              <a:t>Human accountability stays in the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UC-02 Core Payment Exceptions &amp; Automated Dispute Portal</dc:title>
  <dc:subject>FinTech product and technical demo pitch</dc:subject>
  <dc:creator>Clearline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