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06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9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9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1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90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2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4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4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4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5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5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5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5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5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5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5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1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1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6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6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6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6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3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0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3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2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658368" y="731520"/>
            <a:ext cx="2976856" cy="2453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300" i="0">
                <a:solidFill>
                  <a:srgbClr val="0097A7"/>
                </a:solidFill>
                <a:latin typeface="Aptos"/>
              </a:rPr>
              <a:t>PAYMENT EXCEPTION MANAGEMENT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658368" y="1325880"/>
            <a:ext cx="4092571" cy="1121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3600" i="0">
                <a:solidFill>
                  <a:srgbClr val="FFFFFF"/>
                </a:solidFill>
                <a:latin typeface="Aptos"/>
              </a:rPr>
              <a:t>AI-Assisted Dispute
&amp; Payment Exception Portal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658368" y="2788920"/>
            <a:ext cx="4012006" cy="321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800" i="0">
                <a:solidFill>
                  <a:srgbClr val="CDD8E8"/>
                </a:solidFill>
                <a:latin typeface="Aptos"/>
              </a:rPr>
              <a:t>Formal technical demo • 10–15 minutes</a:t>
            </a:r>
          </a:p>
        </p:txBody>
      </p:sp>
      <p:sp>
        <p:nvSpPr>
          <p:cNvPr id="1048588" name="Oval 5"/>
          <p:cNvSpPr/>
          <p:nvPr/>
        </p:nvSpPr>
        <p:spPr>
          <a:xfrm>
            <a:off x="6492240" y="4572000"/>
            <a:ext cx="621792" cy="621792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9" name="TextBox 6"/>
          <p:cNvSpPr txBox="1"/>
          <p:nvPr/>
        </p:nvSpPr>
        <p:spPr>
          <a:xfrm>
            <a:off x="6400800" y="5321808"/>
            <a:ext cx="399203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FFFFFF"/>
                </a:solidFill>
                <a:latin typeface="Aptos"/>
              </a:rPr>
              <a:t>INTAKE</a:t>
            </a:r>
          </a:p>
        </p:txBody>
      </p:sp>
      <p:cxnSp>
        <p:nvCxnSpPr>
          <p:cNvPr id="3145728" name="Connector 7"/>
          <p:cNvCxnSpPr>
            <a:cxnSpLocks/>
          </p:cNvCxnSpPr>
          <p:nvPr/>
        </p:nvCxnSpPr>
        <p:spPr>
          <a:xfrm>
            <a:off x="7114031" y="4882896"/>
            <a:ext cx="539496" cy="0"/>
          </a:xfrm>
          <a:prstGeom prst="line"/>
          <a:ln w="25400">
            <a:solidFill>
              <a:srgbClr val="82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90" name="Oval 8"/>
          <p:cNvSpPr/>
          <p:nvPr/>
        </p:nvSpPr>
        <p:spPr>
          <a:xfrm>
            <a:off x="7726679" y="4572000"/>
            <a:ext cx="621792" cy="621792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1" name="TextBox 9"/>
          <p:cNvSpPr txBox="1"/>
          <p:nvPr/>
        </p:nvSpPr>
        <p:spPr>
          <a:xfrm>
            <a:off x="7635240" y="5321808"/>
            <a:ext cx="407389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FFFFFF"/>
                </a:solidFill>
                <a:latin typeface="Aptos"/>
              </a:rPr>
              <a:t>MATCH</a:t>
            </a:r>
          </a:p>
        </p:txBody>
      </p:sp>
      <p:cxnSp>
        <p:nvCxnSpPr>
          <p:cNvPr id="3145729" name="Connector 10"/>
          <p:cNvCxnSpPr>
            <a:cxnSpLocks/>
          </p:cNvCxnSpPr>
          <p:nvPr/>
        </p:nvCxnSpPr>
        <p:spPr>
          <a:xfrm>
            <a:off x="8348471" y="4882896"/>
            <a:ext cx="539496" cy="0"/>
          </a:xfrm>
          <a:prstGeom prst="line"/>
          <a:ln w="25400">
            <a:solidFill>
              <a:srgbClr val="82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92" name="Oval 11"/>
          <p:cNvSpPr/>
          <p:nvPr/>
        </p:nvSpPr>
        <p:spPr>
          <a:xfrm>
            <a:off x="8961120" y="4572000"/>
            <a:ext cx="621792" cy="621792"/>
          </a:xfrm>
          <a:prstGeom prst="ellipse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TextBox 12"/>
          <p:cNvSpPr txBox="1"/>
          <p:nvPr/>
        </p:nvSpPr>
        <p:spPr>
          <a:xfrm>
            <a:off x="8869680" y="5321808"/>
            <a:ext cx="408530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3145730" name="Connector 13"/>
          <p:cNvCxnSpPr>
            <a:cxnSpLocks/>
          </p:cNvCxnSpPr>
          <p:nvPr/>
        </p:nvCxnSpPr>
        <p:spPr>
          <a:xfrm>
            <a:off x="9582912" y="4882896"/>
            <a:ext cx="539496" cy="0"/>
          </a:xfrm>
          <a:prstGeom prst="line"/>
          <a:ln w="25400">
            <a:solidFill>
              <a:srgbClr val="82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94" name="Oval 14"/>
          <p:cNvSpPr/>
          <p:nvPr/>
        </p:nvSpPr>
        <p:spPr>
          <a:xfrm>
            <a:off x="10195560" y="4572000"/>
            <a:ext cx="621792" cy="621792"/>
          </a:xfrm>
          <a:prstGeom prst="ellipse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15"/>
          <p:cNvSpPr txBox="1"/>
          <p:nvPr/>
        </p:nvSpPr>
        <p:spPr>
          <a:xfrm>
            <a:off x="10104120" y="5321808"/>
            <a:ext cx="357431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1048596" name="TextBox 16"/>
          <p:cNvSpPr txBox="1"/>
          <p:nvPr/>
        </p:nvSpPr>
        <p:spPr>
          <a:xfrm>
            <a:off x="658368" y="6053328"/>
            <a:ext cx="3010739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00" i="0">
                <a:solidFill>
                  <a:srgbClr val="B4C3D8"/>
                </a:solidFill>
                <a:latin typeface="Aptos"/>
              </a:rPr>
              <a:t>PaymentException • Offline synthetic implementation</a:t>
            </a:r>
          </a:p>
        </p:txBody>
      </p:sp>
      <p:sp>
        <p:nvSpPr>
          <p:cNvPr id="1048597" name="TextBox 17"/>
          <p:cNvSpPr txBox="1"/>
          <p:nvPr/>
        </p:nvSpPr>
        <p:spPr>
          <a:xfrm>
            <a:off x="9235440" y="6053328"/>
            <a:ext cx="1245738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1" sz="1000" i="0">
                <a:solidFill>
                  <a:srgbClr val="0097A7"/>
                </a:solidFill>
                <a:latin typeface="Aptos"/>
              </a:rPr>
              <a:t>Office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98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2"/>
          <p:cNvSpPr txBox="1"/>
          <p:nvPr/>
        </p:nvSpPr>
        <p:spPr>
          <a:xfrm>
            <a:off x="502920" y="201168"/>
            <a:ext cx="206520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02</a:t>
            </a:r>
          </a:p>
        </p:txBody>
      </p:sp>
      <p:sp>
        <p:nvSpPr>
          <p:cNvPr id="1048600" name="TextBox 3"/>
          <p:cNvSpPr txBox="1"/>
          <p:nvPr/>
        </p:nvSpPr>
        <p:spPr>
          <a:xfrm>
            <a:off x="941832" y="128016"/>
            <a:ext cx="2838396" cy="423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Executive Summary</a:t>
            </a:r>
          </a:p>
        </p:txBody>
      </p:sp>
      <p:sp>
        <p:nvSpPr>
          <p:cNvPr id="1048601" name="TextBox 4"/>
          <p:cNvSpPr txBox="1"/>
          <p:nvPr/>
        </p:nvSpPr>
        <p:spPr>
          <a:xfrm>
            <a:off x="941832" y="594360"/>
            <a:ext cx="1855337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What the solution demonstrates</a:t>
            </a:r>
          </a:p>
        </p:txBody>
      </p:sp>
      <p:sp>
        <p:nvSpPr>
          <p:cNvPr id="1048602" name="Rounded Rectangle 5"/>
          <p:cNvSpPr/>
          <p:nvPr/>
        </p:nvSpPr>
        <p:spPr>
          <a:xfrm>
            <a:off x="640080" y="1143000"/>
            <a:ext cx="1783080" cy="841248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TextBox 6"/>
          <p:cNvSpPr txBox="1"/>
          <p:nvPr/>
        </p:nvSpPr>
        <p:spPr>
          <a:xfrm>
            <a:off x="713231" y="1243584"/>
            <a:ext cx="755944" cy="359663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2000" i="0">
                <a:solidFill>
                  <a:srgbClr val="265CB4"/>
                </a:solidFill>
                <a:latin typeface="Aptos"/>
              </a:rPr>
              <a:t>6,000</a:t>
            </a:r>
          </a:p>
        </p:txBody>
      </p:sp>
      <p:sp>
        <p:nvSpPr>
          <p:cNvPr id="1048604" name="TextBox 7"/>
          <p:cNvSpPr txBox="1"/>
          <p:nvPr/>
        </p:nvSpPr>
        <p:spPr>
          <a:xfrm>
            <a:off x="713231" y="1636776"/>
            <a:ext cx="930371" cy="1691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30" i="0">
                <a:solidFill>
                  <a:srgbClr val="657285"/>
                </a:solidFill>
                <a:latin typeface="Aptos"/>
              </a:rPr>
              <a:t>synthetic payments</a:t>
            </a:r>
          </a:p>
        </p:txBody>
      </p:sp>
      <p:sp>
        <p:nvSpPr>
          <p:cNvPr id="1048605" name="Rounded Rectangle 8"/>
          <p:cNvSpPr/>
          <p:nvPr/>
        </p:nvSpPr>
        <p:spPr>
          <a:xfrm>
            <a:off x="2606040" y="1143000"/>
            <a:ext cx="1783080" cy="841248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TextBox 9"/>
          <p:cNvSpPr txBox="1"/>
          <p:nvPr/>
        </p:nvSpPr>
        <p:spPr>
          <a:xfrm>
            <a:off x="2679192" y="1243584"/>
            <a:ext cx="296165" cy="359663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2000" i="0">
                <a:solidFill>
                  <a:srgbClr val="0097A7"/>
                </a:solidFill>
                <a:latin typeface="Aptos"/>
              </a:rPr>
              <a:t>12</a:t>
            </a:r>
          </a:p>
        </p:txBody>
      </p:sp>
      <p:sp>
        <p:nvSpPr>
          <p:cNvPr id="1048607" name="TextBox 10"/>
          <p:cNvSpPr txBox="1"/>
          <p:nvPr/>
        </p:nvSpPr>
        <p:spPr>
          <a:xfrm>
            <a:off x="2679192" y="1636776"/>
            <a:ext cx="1083565" cy="1691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30" i="0">
                <a:solidFill>
                  <a:srgbClr val="657285"/>
                </a:solidFill>
                <a:latin typeface="Aptos"/>
              </a:rPr>
              <a:t>documented scenarios</a:t>
            </a:r>
          </a:p>
        </p:txBody>
      </p:sp>
      <p:sp>
        <p:nvSpPr>
          <p:cNvPr id="1048608" name="Rounded Rectangle 11"/>
          <p:cNvSpPr/>
          <p:nvPr/>
        </p:nvSpPr>
        <p:spPr>
          <a:xfrm>
            <a:off x="4572000" y="1143000"/>
            <a:ext cx="1783080" cy="841248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9" name="TextBox 12"/>
          <p:cNvSpPr txBox="1"/>
          <p:nvPr/>
        </p:nvSpPr>
        <p:spPr>
          <a:xfrm>
            <a:off x="4645152" y="1243584"/>
            <a:ext cx="207264" cy="359663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2000" i="0">
                <a:solidFill>
                  <a:srgbClr val="007E72"/>
                </a:solidFill>
                <a:latin typeface="Aptos"/>
              </a:rPr>
              <a:t>4</a:t>
            </a:r>
          </a:p>
        </p:txBody>
      </p:sp>
      <p:sp>
        <p:nvSpPr>
          <p:cNvPr id="1048610" name="TextBox 13"/>
          <p:cNvSpPr txBox="1"/>
          <p:nvPr/>
        </p:nvSpPr>
        <p:spPr>
          <a:xfrm>
            <a:off x="4645152" y="1636776"/>
            <a:ext cx="661438" cy="1691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30" i="0">
                <a:solidFill>
                  <a:srgbClr val="657285"/>
                </a:solidFill>
                <a:latin typeface="Aptos"/>
              </a:rPr>
              <a:t>payment rails</a:t>
            </a:r>
          </a:p>
        </p:txBody>
      </p:sp>
      <p:sp>
        <p:nvSpPr>
          <p:cNvPr id="1048611" name="Rounded Rectangle 14"/>
          <p:cNvSpPr/>
          <p:nvPr/>
        </p:nvSpPr>
        <p:spPr>
          <a:xfrm>
            <a:off x="6537960" y="1143000"/>
            <a:ext cx="1783080" cy="841248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15"/>
          <p:cNvSpPr txBox="1"/>
          <p:nvPr/>
        </p:nvSpPr>
        <p:spPr>
          <a:xfrm>
            <a:off x="6611112" y="1243584"/>
            <a:ext cx="194564" cy="359663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2000" i="0">
                <a:solidFill>
                  <a:srgbClr val="694CA5"/>
                </a:solidFill>
                <a:latin typeface="Aptos"/>
              </a:rPr>
              <a:t>3</a:t>
            </a:r>
          </a:p>
        </p:txBody>
      </p:sp>
      <p:sp>
        <p:nvSpPr>
          <p:cNvPr id="1048613" name="TextBox 16"/>
          <p:cNvSpPr txBox="1"/>
          <p:nvPr/>
        </p:nvSpPr>
        <p:spPr>
          <a:xfrm>
            <a:off x="6611112" y="1636776"/>
            <a:ext cx="1117249" cy="1691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30" i="0">
                <a:solidFill>
                  <a:srgbClr val="657285"/>
                </a:solidFill>
                <a:latin typeface="Aptos"/>
              </a:rPr>
              <a:t>user-facing experiences</a:t>
            </a:r>
          </a:p>
        </p:txBody>
      </p:sp>
      <p:sp>
        <p:nvSpPr>
          <p:cNvPr id="1048614" name="Rounded Rectangle 17"/>
          <p:cNvSpPr/>
          <p:nvPr/>
        </p:nvSpPr>
        <p:spPr>
          <a:xfrm>
            <a:off x="8503920" y="1143000"/>
            <a:ext cx="1783080" cy="841248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18"/>
          <p:cNvSpPr txBox="1"/>
          <p:nvPr/>
        </p:nvSpPr>
        <p:spPr>
          <a:xfrm>
            <a:off x="8577072" y="1243584"/>
            <a:ext cx="372364" cy="359663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2000" i="0">
                <a:solidFill>
                  <a:srgbClr val="BE3737"/>
                </a:solidFill>
                <a:latin typeface="Aptos"/>
              </a:rPr>
              <a:t>60</a:t>
            </a:r>
          </a:p>
        </p:txBody>
      </p:sp>
      <p:sp>
        <p:nvSpPr>
          <p:cNvPr id="1048616" name="TextBox 19"/>
          <p:cNvSpPr txBox="1"/>
          <p:nvPr/>
        </p:nvSpPr>
        <p:spPr>
          <a:xfrm>
            <a:off x="8577072" y="1636776"/>
            <a:ext cx="828771" cy="1691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30" i="0">
                <a:solidFill>
                  <a:srgbClr val="657285"/>
                </a:solidFill>
                <a:latin typeface="Aptos"/>
              </a:rPr>
              <a:t>day max SLA rule</a:t>
            </a:r>
          </a:p>
        </p:txBody>
      </p:sp>
      <p:sp>
        <p:nvSpPr>
          <p:cNvPr id="1048617" name="Rounded Rectangle 20"/>
          <p:cNvSpPr/>
          <p:nvPr/>
        </p:nvSpPr>
        <p:spPr>
          <a:xfrm>
            <a:off x="10469880" y="1143000"/>
            <a:ext cx="1051560" cy="841248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8" name="TextBox 21"/>
          <p:cNvSpPr txBox="1"/>
          <p:nvPr/>
        </p:nvSpPr>
        <p:spPr>
          <a:xfrm>
            <a:off x="10543032" y="1243584"/>
            <a:ext cx="715264" cy="359663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2000" i="0">
                <a:solidFill>
                  <a:srgbClr val="D28918"/>
                </a:solidFill>
                <a:latin typeface="Aptos"/>
              </a:rPr>
              <a:t>100%</a:t>
            </a:r>
          </a:p>
        </p:txBody>
      </p:sp>
      <p:sp>
        <p:nvSpPr>
          <p:cNvPr id="1048619" name="TextBox 22"/>
          <p:cNvSpPr txBox="1"/>
          <p:nvPr/>
        </p:nvSpPr>
        <p:spPr>
          <a:xfrm>
            <a:off x="10543032" y="1636776"/>
            <a:ext cx="773456" cy="1691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30" i="0">
                <a:solidFill>
                  <a:srgbClr val="657285"/>
                </a:solidFill>
                <a:latin typeface="Aptos"/>
              </a:rPr>
              <a:t>human approval</a:t>
            </a:r>
          </a:p>
        </p:txBody>
      </p:sp>
      <p:sp>
        <p:nvSpPr>
          <p:cNvPr id="1048620" name="Rounded Rectangle 23"/>
          <p:cNvSpPr/>
          <p:nvPr/>
        </p:nvSpPr>
        <p:spPr>
          <a:xfrm>
            <a:off x="640080" y="2331720"/>
            <a:ext cx="342900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1" name="Rectangle 24"/>
          <p:cNvSpPr/>
          <p:nvPr/>
        </p:nvSpPr>
        <p:spPr>
          <a:xfrm>
            <a:off x="640080" y="2331720"/>
            <a:ext cx="64008" cy="1828800"/>
          </a:xfrm>
          <a:prstGeom prst="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25"/>
          <p:cNvSpPr txBox="1"/>
          <p:nvPr/>
        </p:nvSpPr>
        <p:spPr>
          <a:xfrm>
            <a:off x="822959" y="2459736"/>
            <a:ext cx="1257842" cy="232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Business problem</a:t>
            </a:r>
          </a:p>
        </p:txBody>
      </p:sp>
      <p:sp>
        <p:nvSpPr>
          <p:cNvPr id="1048623" name="TextBox 26"/>
          <p:cNvSpPr txBox="1"/>
          <p:nvPr/>
        </p:nvSpPr>
        <p:spPr>
          <a:xfrm>
            <a:off x="822959" y="2834639"/>
            <a:ext cx="7796258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Customer language is unstructured; payment records are structured. The solution bridges that gap while enforcing rail and deadline policy.</a:t>
            </a:r>
          </a:p>
        </p:txBody>
      </p:sp>
      <p:sp>
        <p:nvSpPr>
          <p:cNvPr id="1048624" name="Rounded Rectangle 27"/>
          <p:cNvSpPr/>
          <p:nvPr/>
        </p:nvSpPr>
        <p:spPr>
          <a:xfrm>
            <a:off x="4389120" y="2331720"/>
            <a:ext cx="342900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Rectangle 28"/>
          <p:cNvSpPr/>
          <p:nvPr/>
        </p:nvSpPr>
        <p:spPr>
          <a:xfrm>
            <a:off x="4389120" y="2331720"/>
            <a:ext cx="64008" cy="1828800"/>
          </a:xfrm>
          <a:prstGeom prst="rect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6" name="TextBox 29"/>
          <p:cNvSpPr txBox="1"/>
          <p:nvPr/>
        </p:nvSpPr>
        <p:spPr>
          <a:xfrm>
            <a:off x="4572000" y="2459736"/>
            <a:ext cx="1270542" cy="232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Solution approach</a:t>
            </a:r>
          </a:p>
        </p:txBody>
      </p:sp>
      <p:sp>
        <p:nvSpPr>
          <p:cNvPr id="1048627" name="TextBox 30"/>
          <p:cNvSpPr txBox="1"/>
          <p:nvPr/>
        </p:nvSpPr>
        <p:spPr>
          <a:xfrm>
            <a:off x="4572000" y="2834639"/>
            <a:ext cx="6866529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AI assists intake, matching, classification and drafting. Deterministic services retain control of payment selection and policy.</a:t>
            </a:r>
          </a:p>
        </p:txBody>
      </p:sp>
      <p:sp>
        <p:nvSpPr>
          <p:cNvPr id="1048628" name="Rounded Rectangle 31"/>
          <p:cNvSpPr/>
          <p:nvPr/>
        </p:nvSpPr>
        <p:spPr>
          <a:xfrm>
            <a:off x="8138160" y="2331720"/>
            <a:ext cx="342900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9" name="Rectangle 32"/>
          <p:cNvSpPr/>
          <p:nvPr/>
        </p:nvSpPr>
        <p:spPr>
          <a:xfrm>
            <a:off x="8138160" y="2331720"/>
            <a:ext cx="64008" cy="1828800"/>
          </a:xfrm>
          <a:prstGeom prst="rect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TextBox 33"/>
          <p:cNvSpPr txBox="1"/>
          <p:nvPr/>
        </p:nvSpPr>
        <p:spPr>
          <a:xfrm>
            <a:off x="8321040" y="2459736"/>
            <a:ext cx="1016542" cy="232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Control model</a:t>
            </a:r>
          </a:p>
        </p:txBody>
      </p:sp>
      <p:sp>
        <p:nvSpPr>
          <p:cNvPr id="1048631" name="TextBox 34"/>
          <p:cNvSpPr txBox="1"/>
          <p:nvPr/>
        </p:nvSpPr>
        <p:spPr>
          <a:xfrm>
            <a:off x="8321040" y="2834639"/>
            <a:ext cx="5475680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Unclear → clarify. Expired → manual review. Eligible → human approval. AI never bypasses policy.</a:t>
            </a:r>
          </a:p>
        </p:txBody>
      </p:sp>
      <p:sp>
        <p:nvSpPr>
          <p:cNvPr id="1048632" name="Oval 35"/>
          <p:cNvSpPr/>
          <p:nvPr/>
        </p:nvSpPr>
        <p:spPr>
          <a:xfrm>
            <a:off x="777240" y="4617720"/>
            <a:ext cx="68580" cy="6858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3" name="TextBox 36"/>
          <p:cNvSpPr txBox="1"/>
          <p:nvPr/>
        </p:nvSpPr>
        <p:spPr>
          <a:xfrm>
            <a:off x="932688" y="4526280"/>
            <a:ext cx="6444898" cy="2453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320" i="0">
                <a:solidFill>
                  <a:srgbClr val="212A38"/>
                </a:solidFill>
                <a:latin typeface="Aptos"/>
              </a:rPr>
              <a:t>Customer portal: typed/voice intake, matching, classification and simulated confirmation.</a:t>
            </a:r>
          </a:p>
        </p:txBody>
      </p:sp>
      <p:sp>
        <p:nvSpPr>
          <p:cNvPr id="1048634" name="Oval 37"/>
          <p:cNvSpPr/>
          <p:nvPr/>
        </p:nvSpPr>
        <p:spPr>
          <a:xfrm>
            <a:off x="777240" y="5029200"/>
            <a:ext cx="68580" cy="6858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38"/>
          <p:cNvSpPr txBox="1"/>
          <p:nvPr/>
        </p:nvSpPr>
        <p:spPr>
          <a:xfrm>
            <a:off x="932688" y="4937760"/>
            <a:ext cx="6495996" cy="2453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320" i="0">
                <a:solidFill>
                  <a:srgbClr val="212A38"/>
                </a:solidFill>
                <a:latin typeface="Aptos"/>
              </a:rPr>
              <a:t>Operations console: queue, audit, SLA tester, cognitive routing, Smart Audit and analytics.</a:t>
            </a:r>
          </a:p>
        </p:txBody>
      </p:sp>
      <p:sp>
        <p:nvSpPr>
          <p:cNvPr id="1048636" name="Oval 39"/>
          <p:cNvSpPr/>
          <p:nvPr/>
        </p:nvSpPr>
        <p:spPr>
          <a:xfrm>
            <a:off x="777240" y="5440679"/>
            <a:ext cx="68580" cy="6858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40"/>
          <p:cNvSpPr txBox="1"/>
          <p:nvPr/>
        </p:nvSpPr>
        <p:spPr>
          <a:xfrm>
            <a:off x="932688" y="5349240"/>
            <a:ext cx="6011263" cy="2453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320" i="0">
                <a:solidFill>
                  <a:srgbClr val="212A38"/>
                </a:solidFill>
                <a:latin typeface="Aptos"/>
              </a:rPr>
              <a:t>React console: voice-enabled operations experience with dashboard visualizations.</a:t>
            </a:r>
          </a:p>
        </p:txBody>
      </p:sp>
      <p:sp>
        <p:nvSpPr>
          <p:cNvPr id="1048638" name="TextBox 41"/>
          <p:cNvSpPr txBox="1"/>
          <p:nvPr/>
        </p:nvSpPr>
        <p:spPr>
          <a:xfrm>
            <a:off x="502920" y="6547104"/>
            <a:ext cx="2793449" cy="1564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PaymentException GitHub repository • synthetic/offline demo</a:t>
            </a:r>
          </a:p>
        </p:txBody>
      </p:sp>
      <p:sp>
        <p:nvSpPr>
          <p:cNvPr id="1048639" name="TextBox 42"/>
          <p:cNvSpPr txBox="1"/>
          <p:nvPr/>
        </p:nvSpPr>
        <p:spPr>
          <a:xfrm>
            <a:off x="11201400" y="6547104"/>
            <a:ext cx="105664" cy="1564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640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1" name="TextBox 2"/>
          <p:cNvSpPr txBox="1"/>
          <p:nvPr/>
        </p:nvSpPr>
        <p:spPr>
          <a:xfrm>
            <a:off x="502920" y="201168"/>
            <a:ext cx="206768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03</a:t>
            </a:r>
          </a:p>
        </p:txBody>
      </p:sp>
      <p:sp>
        <p:nvSpPr>
          <p:cNvPr id="1048642" name="TextBox 3"/>
          <p:cNvSpPr txBox="1"/>
          <p:nvPr/>
        </p:nvSpPr>
        <p:spPr>
          <a:xfrm>
            <a:off x="941832" y="128016"/>
            <a:ext cx="2999378" cy="423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Solution Architecture</a:t>
            </a:r>
          </a:p>
        </p:txBody>
      </p:sp>
      <p:sp>
        <p:nvSpPr>
          <p:cNvPr id="1048643" name="TextBox 4"/>
          <p:cNvSpPr txBox="1"/>
          <p:nvPr/>
        </p:nvSpPr>
        <p:spPr>
          <a:xfrm>
            <a:off x="941832" y="594360"/>
            <a:ext cx="3461540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Probabilistic interfaces are bounded by deterministic controls</a:t>
            </a:r>
          </a:p>
        </p:txBody>
      </p:sp>
      <p:sp>
        <p:nvSpPr>
          <p:cNvPr id="1048644" name="Rounded Rectangle 5"/>
          <p:cNvSpPr/>
          <p:nvPr/>
        </p:nvSpPr>
        <p:spPr>
          <a:xfrm>
            <a:off x="594360" y="1143000"/>
            <a:ext cx="10972800" cy="507492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5" name="Rounded Rectangle 6"/>
          <p:cNvSpPr/>
          <p:nvPr/>
        </p:nvSpPr>
        <p:spPr>
          <a:xfrm>
            <a:off x="914400" y="1417320"/>
            <a:ext cx="182880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TextBox 7"/>
          <p:cNvSpPr txBox="1"/>
          <p:nvPr/>
        </p:nvSpPr>
        <p:spPr>
          <a:xfrm>
            <a:off x="914400" y="1463547"/>
            <a:ext cx="1085400" cy="181866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EXPERIENCE LAYER</a:t>
            </a:r>
          </a:p>
        </p:txBody>
      </p:sp>
      <p:sp>
        <p:nvSpPr>
          <p:cNvPr id="1048647" name="Rounded Rectangle 8"/>
          <p:cNvSpPr/>
          <p:nvPr/>
        </p:nvSpPr>
        <p:spPr>
          <a:xfrm>
            <a:off x="914400" y="1828800"/>
            <a:ext cx="3200400" cy="914400"/>
          </a:xfrm>
          <a:prstGeom prst="roundRect"/>
          <a:solidFill>
            <a:srgbClr val="EAF1FB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8" name="Rectangle 9"/>
          <p:cNvSpPr/>
          <p:nvPr/>
        </p:nvSpPr>
        <p:spPr>
          <a:xfrm>
            <a:off x="914400" y="1828800"/>
            <a:ext cx="64008" cy="914400"/>
          </a:xfrm>
          <a:prstGeom prst="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9" name="TextBox 10"/>
          <p:cNvSpPr txBox="1"/>
          <p:nvPr/>
        </p:nvSpPr>
        <p:spPr>
          <a:xfrm>
            <a:off x="1097280" y="1956816"/>
            <a:ext cx="1172167" cy="2326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Customer Portal</a:t>
            </a:r>
          </a:p>
        </p:txBody>
      </p:sp>
      <p:sp>
        <p:nvSpPr>
          <p:cNvPr id="1048650" name="TextBox 11"/>
          <p:cNvSpPr txBox="1"/>
          <p:nvPr/>
        </p:nvSpPr>
        <p:spPr>
          <a:xfrm>
            <a:off x="1097280" y="2331720"/>
            <a:ext cx="139600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Streamlit • typed + voice</a:t>
            </a:r>
          </a:p>
        </p:txBody>
      </p:sp>
      <p:sp>
        <p:nvSpPr>
          <p:cNvPr id="1048651" name="Rounded Rectangle 12"/>
          <p:cNvSpPr/>
          <p:nvPr/>
        </p:nvSpPr>
        <p:spPr>
          <a:xfrm>
            <a:off x="4526280" y="1828800"/>
            <a:ext cx="3200400" cy="914400"/>
          </a:xfrm>
          <a:prstGeom prst="roundRect"/>
          <a:solidFill>
            <a:srgbClr val="E8F7F9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2" name="Rectangle 13"/>
          <p:cNvSpPr/>
          <p:nvPr/>
        </p:nvSpPr>
        <p:spPr>
          <a:xfrm>
            <a:off x="4526280" y="1828800"/>
            <a:ext cx="64008" cy="914400"/>
          </a:xfrm>
          <a:prstGeom prst="rect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3" name="TextBox 14"/>
          <p:cNvSpPr txBox="1"/>
          <p:nvPr/>
        </p:nvSpPr>
        <p:spPr>
          <a:xfrm>
            <a:off x="4709160" y="1956816"/>
            <a:ext cx="1410242" cy="2326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Operations Console</a:t>
            </a:r>
          </a:p>
        </p:txBody>
      </p:sp>
      <p:sp>
        <p:nvSpPr>
          <p:cNvPr id="1048654" name="TextBox 15"/>
          <p:cNvSpPr txBox="1"/>
          <p:nvPr/>
        </p:nvSpPr>
        <p:spPr>
          <a:xfrm>
            <a:off x="4709160" y="2331720"/>
            <a:ext cx="1296835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Streamlit • audit + SLA</a:t>
            </a:r>
          </a:p>
        </p:txBody>
      </p:sp>
      <p:sp>
        <p:nvSpPr>
          <p:cNvPr id="1048655" name="Rounded Rectangle 16"/>
          <p:cNvSpPr/>
          <p:nvPr/>
        </p:nvSpPr>
        <p:spPr>
          <a:xfrm>
            <a:off x="8138160" y="1828800"/>
            <a:ext cx="3200400" cy="914400"/>
          </a:xfrm>
          <a:prstGeom prst="roundRect"/>
          <a:solidFill>
            <a:srgbClr val="F3EF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6" name="Rectangle 17"/>
          <p:cNvSpPr/>
          <p:nvPr/>
        </p:nvSpPr>
        <p:spPr>
          <a:xfrm>
            <a:off x="8138160" y="1828800"/>
            <a:ext cx="64008" cy="914400"/>
          </a:xfrm>
          <a:prstGeom prst="rect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TextBox 18"/>
          <p:cNvSpPr txBox="1"/>
          <p:nvPr/>
        </p:nvSpPr>
        <p:spPr>
          <a:xfrm>
            <a:off x="8321040" y="1956816"/>
            <a:ext cx="1642563" cy="2326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React Voice Dashboard</a:t>
            </a:r>
          </a:p>
        </p:txBody>
      </p:sp>
      <p:sp>
        <p:nvSpPr>
          <p:cNvPr id="1048658" name="TextBox 19"/>
          <p:cNvSpPr txBox="1"/>
          <p:nvPr/>
        </p:nvSpPr>
        <p:spPr>
          <a:xfrm>
            <a:off x="8321040" y="2331720"/>
            <a:ext cx="145201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Vite • Tailwind • Recharts</a:t>
            </a:r>
          </a:p>
        </p:txBody>
      </p:sp>
      <p:sp>
        <p:nvSpPr>
          <p:cNvPr id="1048659" name="Rounded Rectangle 20"/>
          <p:cNvSpPr/>
          <p:nvPr/>
        </p:nvSpPr>
        <p:spPr>
          <a:xfrm>
            <a:off x="914400" y="3063240"/>
            <a:ext cx="1828800" cy="310896"/>
          </a:xfrm>
          <a:prstGeom prst="roundRect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TextBox 21"/>
          <p:cNvSpPr txBox="1"/>
          <p:nvPr/>
        </p:nvSpPr>
        <p:spPr>
          <a:xfrm>
            <a:off x="914400" y="3109467"/>
            <a:ext cx="874659" cy="181866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AI BOUNDARIES</a:t>
            </a:r>
          </a:p>
        </p:txBody>
      </p:sp>
      <p:sp>
        <p:nvSpPr>
          <p:cNvPr id="1048661" name="Rounded Rectangle 22"/>
          <p:cNvSpPr/>
          <p:nvPr/>
        </p:nvSpPr>
        <p:spPr>
          <a:xfrm>
            <a:off x="914400" y="3456432"/>
            <a:ext cx="2240280" cy="685800"/>
          </a:xfrm>
          <a:prstGeom prst="roundRect"/>
          <a:solidFill>
            <a:srgbClr val="E8F7F9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2" name="TextBox 23"/>
          <p:cNvSpPr txBox="1"/>
          <p:nvPr/>
        </p:nvSpPr>
        <p:spPr>
          <a:xfrm>
            <a:off x="914400" y="3639312"/>
            <a:ext cx="544460" cy="2199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120" i="0">
                <a:solidFill>
                  <a:srgbClr val="0F1F36"/>
                </a:solidFill>
                <a:latin typeface="Aptos"/>
              </a:rPr>
              <a:t>IntakeAI</a:t>
            </a:r>
          </a:p>
        </p:txBody>
      </p:sp>
      <p:sp>
        <p:nvSpPr>
          <p:cNvPr id="1048663" name="Rounded Rectangle 24"/>
          <p:cNvSpPr/>
          <p:nvPr/>
        </p:nvSpPr>
        <p:spPr>
          <a:xfrm>
            <a:off x="3611880" y="3456432"/>
            <a:ext cx="2240280" cy="685800"/>
          </a:xfrm>
          <a:prstGeom prst="roundRect"/>
          <a:solidFill>
            <a:srgbClr val="E8F7F9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4" name="TextBox 25"/>
          <p:cNvSpPr txBox="1"/>
          <p:nvPr/>
        </p:nvSpPr>
        <p:spPr>
          <a:xfrm>
            <a:off x="3611880" y="3639312"/>
            <a:ext cx="766065" cy="2199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120" i="0">
                <a:solidFill>
                  <a:srgbClr val="0F1F36"/>
                </a:solidFill>
                <a:latin typeface="Aptos"/>
              </a:rPr>
              <a:t>MatchingAI</a:t>
            </a:r>
          </a:p>
        </p:txBody>
      </p:sp>
      <p:sp>
        <p:nvSpPr>
          <p:cNvPr id="1048665" name="Rounded Rectangle 26"/>
          <p:cNvSpPr/>
          <p:nvPr/>
        </p:nvSpPr>
        <p:spPr>
          <a:xfrm>
            <a:off x="6309360" y="3456432"/>
            <a:ext cx="2240280" cy="685800"/>
          </a:xfrm>
          <a:prstGeom prst="roundRect"/>
          <a:solidFill>
            <a:srgbClr val="E8F7F9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6" name="TextBox 27"/>
          <p:cNvSpPr txBox="1"/>
          <p:nvPr/>
        </p:nvSpPr>
        <p:spPr>
          <a:xfrm>
            <a:off x="6309360" y="3639312"/>
            <a:ext cx="994664" cy="2199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120" i="0">
                <a:solidFill>
                  <a:srgbClr val="0F1F36"/>
                </a:solidFill>
                <a:latin typeface="Aptos"/>
              </a:rPr>
              <a:t>ClassificationAI</a:t>
            </a:r>
          </a:p>
        </p:txBody>
      </p:sp>
      <p:sp>
        <p:nvSpPr>
          <p:cNvPr id="1048667" name="Rounded Rectangle 28"/>
          <p:cNvSpPr/>
          <p:nvPr/>
        </p:nvSpPr>
        <p:spPr>
          <a:xfrm>
            <a:off x="9006840" y="3456432"/>
            <a:ext cx="2240280" cy="685800"/>
          </a:xfrm>
          <a:prstGeom prst="roundRect"/>
          <a:solidFill>
            <a:srgbClr val="E8F7F9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8" name="TextBox 29"/>
          <p:cNvSpPr txBox="1"/>
          <p:nvPr/>
        </p:nvSpPr>
        <p:spPr>
          <a:xfrm>
            <a:off x="9006840" y="3639312"/>
            <a:ext cx="686640" cy="2199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120" i="0">
                <a:solidFill>
                  <a:srgbClr val="0F1F36"/>
                </a:solidFill>
                <a:latin typeface="Aptos"/>
              </a:rPr>
              <a:t>DraftingAI</a:t>
            </a:r>
          </a:p>
        </p:txBody>
      </p:sp>
      <p:sp>
        <p:nvSpPr>
          <p:cNvPr id="1048669" name="Rounded Rectangle 30"/>
          <p:cNvSpPr/>
          <p:nvPr/>
        </p:nvSpPr>
        <p:spPr>
          <a:xfrm>
            <a:off x="914400" y="4526280"/>
            <a:ext cx="1828800" cy="310896"/>
          </a:xfrm>
          <a:prstGeom prst="round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0" name="TextBox 31"/>
          <p:cNvSpPr txBox="1"/>
          <p:nvPr/>
        </p:nvSpPr>
        <p:spPr>
          <a:xfrm>
            <a:off x="914400" y="4572508"/>
            <a:ext cx="1185164" cy="18186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DETERMINISTIC CORE</a:t>
            </a:r>
          </a:p>
        </p:txBody>
      </p:sp>
      <p:sp>
        <p:nvSpPr>
          <p:cNvPr id="1048671" name="Rounded Rectangle 32"/>
          <p:cNvSpPr/>
          <p:nvPr/>
        </p:nvSpPr>
        <p:spPr>
          <a:xfrm>
            <a:off x="914400" y="4892040"/>
            <a:ext cx="2240280" cy="9144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Rectangle 33"/>
          <p:cNvSpPr/>
          <p:nvPr/>
        </p:nvSpPr>
        <p:spPr>
          <a:xfrm>
            <a:off x="914400" y="4892040"/>
            <a:ext cx="64008" cy="914400"/>
          </a:xfrm>
          <a:prstGeom prst="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3" name="TextBox 34"/>
          <p:cNvSpPr txBox="1"/>
          <p:nvPr/>
        </p:nvSpPr>
        <p:spPr>
          <a:xfrm>
            <a:off x="1097280" y="5020055"/>
            <a:ext cx="1154407" cy="232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Payment search</a:t>
            </a:r>
          </a:p>
        </p:txBody>
      </p:sp>
      <p:sp>
        <p:nvSpPr>
          <p:cNvPr id="1048674" name="TextBox 35"/>
          <p:cNvSpPr txBox="1"/>
          <p:nvPr/>
        </p:nvSpPr>
        <p:spPr>
          <a:xfrm>
            <a:off x="1097280" y="5394959"/>
            <a:ext cx="1642513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ledger + candidate matching</a:t>
            </a:r>
          </a:p>
        </p:txBody>
      </p:sp>
      <p:sp>
        <p:nvSpPr>
          <p:cNvPr id="1048675" name="Rounded Rectangle 36"/>
          <p:cNvSpPr/>
          <p:nvPr/>
        </p:nvSpPr>
        <p:spPr>
          <a:xfrm>
            <a:off x="3611880" y="4892040"/>
            <a:ext cx="2240280" cy="9144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6" name="Rectangle 37"/>
          <p:cNvSpPr/>
          <p:nvPr/>
        </p:nvSpPr>
        <p:spPr>
          <a:xfrm>
            <a:off x="3611880" y="4892040"/>
            <a:ext cx="64008" cy="914400"/>
          </a:xfrm>
          <a:prstGeom prst="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7" name="TextBox 38"/>
          <p:cNvSpPr txBox="1"/>
          <p:nvPr/>
        </p:nvSpPr>
        <p:spPr>
          <a:xfrm>
            <a:off x="3794760" y="5020055"/>
            <a:ext cx="955820" cy="232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Policy engine</a:t>
            </a:r>
          </a:p>
        </p:txBody>
      </p:sp>
      <p:sp>
        <p:nvSpPr>
          <p:cNvPr id="1048678" name="TextBox 39"/>
          <p:cNvSpPr txBox="1"/>
          <p:nvPr/>
        </p:nvSpPr>
        <p:spPr>
          <a:xfrm>
            <a:off x="3794760" y="5394959"/>
            <a:ext cx="1370257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rail + deadline + remedy</a:t>
            </a:r>
          </a:p>
        </p:txBody>
      </p:sp>
      <p:sp>
        <p:nvSpPr>
          <p:cNvPr id="1048679" name="Rounded Rectangle 40"/>
          <p:cNvSpPr/>
          <p:nvPr/>
        </p:nvSpPr>
        <p:spPr>
          <a:xfrm>
            <a:off x="6309360" y="4892040"/>
            <a:ext cx="2240280" cy="9144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0" name="Rectangle 41"/>
          <p:cNvSpPr/>
          <p:nvPr/>
        </p:nvSpPr>
        <p:spPr>
          <a:xfrm>
            <a:off x="6309360" y="4892040"/>
            <a:ext cx="64008" cy="914400"/>
          </a:xfrm>
          <a:prstGeom prst="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1" name="TextBox 42"/>
          <p:cNvSpPr txBox="1"/>
          <p:nvPr/>
        </p:nvSpPr>
        <p:spPr>
          <a:xfrm>
            <a:off x="6492240" y="5020055"/>
            <a:ext cx="721069" cy="232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Guardrails</a:t>
            </a:r>
          </a:p>
        </p:txBody>
      </p:sp>
      <p:sp>
        <p:nvSpPr>
          <p:cNvPr id="1048682" name="TextBox 43"/>
          <p:cNvSpPr txBox="1"/>
          <p:nvPr/>
        </p:nvSpPr>
        <p:spPr>
          <a:xfrm>
            <a:off x="6492240" y="5394959"/>
            <a:ext cx="1244497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validation + redaction</a:t>
            </a:r>
          </a:p>
        </p:txBody>
      </p:sp>
      <p:sp>
        <p:nvSpPr>
          <p:cNvPr id="1048683" name="Rounded Rectangle 44"/>
          <p:cNvSpPr/>
          <p:nvPr/>
        </p:nvSpPr>
        <p:spPr>
          <a:xfrm>
            <a:off x="9006840" y="4892040"/>
            <a:ext cx="2240280" cy="9144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4" name="Rectangle 45"/>
          <p:cNvSpPr/>
          <p:nvPr/>
        </p:nvSpPr>
        <p:spPr>
          <a:xfrm>
            <a:off x="9006840" y="4892040"/>
            <a:ext cx="64008" cy="914400"/>
          </a:xfrm>
          <a:prstGeom prst="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5" name="TextBox 46"/>
          <p:cNvSpPr txBox="1"/>
          <p:nvPr/>
        </p:nvSpPr>
        <p:spPr>
          <a:xfrm>
            <a:off x="9189720" y="5020055"/>
            <a:ext cx="419543" cy="2326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Trace</a:t>
            </a:r>
          </a:p>
        </p:txBody>
      </p:sp>
      <p:sp>
        <p:nvSpPr>
          <p:cNvPr id="1048686" name="TextBox 47"/>
          <p:cNvSpPr txBox="1"/>
          <p:nvPr/>
        </p:nvSpPr>
        <p:spPr>
          <a:xfrm>
            <a:off x="9189720" y="5394959"/>
            <a:ext cx="1453650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facts + result + guardrails</a:t>
            </a:r>
          </a:p>
        </p:txBody>
      </p:sp>
      <p:cxnSp>
        <p:nvCxnSpPr>
          <p:cNvPr id="3145731" name="Connector 48"/>
          <p:cNvCxnSpPr>
            <a:cxnSpLocks/>
          </p:cNvCxnSpPr>
          <p:nvPr/>
        </p:nvCxnSpPr>
        <p:spPr>
          <a:xfrm>
            <a:off x="2514600" y="2743200"/>
            <a:ext cx="0" cy="658368"/>
          </a:xfrm>
          <a:prstGeom prst="line"/>
          <a:ln w="21590">
            <a:solidFill>
              <a:srgbClr val="26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 49"/>
          <p:cNvCxnSpPr>
            <a:cxnSpLocks/>
          </p:cNvCxnSpPr>
          <p:nvPr/>
        </p:nvCxnSpPr>
        <p:spPr>
          <a:xfrm>
            <a:off x="6126480" y="2743200"/>
            <a:ext cx="0" cy="658368"/>
          </a:xfrm>
          <a:prstGeom prst="line"/>
          <a:ln w="21590">
            <a:solidFill>
              <a:srgbClr val="26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or 50"/>
          <p:cNvCxnSpPr>
            <a:cxnSpLocks/>
          </p:cNvCxnSpPr>
          <p:nvPr/>
        </p:nvCxnSpPr>
        <p:spPr>
          <a:xfrm>
            <a:off x="9738360" y="2743200"/>
            <a:ext cx="0" cy="658368"/>
          </a:xfrm>
          <a:prstGeom prst="line"/>
          <a:ln w="21590">
            <a:solidFill>
              <a:srgbClr val="26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4" name="Connector 51"/>
          <p:cNvCxnSpPr>
            <a:cxnSpLocks/>
          </p:cNvCxnSpPr>
          <p:nvPr/>
        </p:nvCxnSpPr>
        <p:spPr>
          <a:xfrm>
            <a:off x="2514600" y="4160520"/>
            <a:ext cx="0" cy="640080"/>
          </a:xfrm>
          <a:prstGeom prst="line"/>
          <a:ln w="21590">
            <a:solidFill>
              <a:srgbClr val="0F1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or 52"/>
          <p:cNvCxnSpPr>
            <a:cxnSpLocks/>
          </p:cNvCxnSpPr>
          <p:nvPr/>
        </p:nvCxnSpPr>
        <p:spPr>
          <a:xfrm>
            <a:off x="6126480" y="4160520"/>
            <a:ext cx="0" cy="640080"/>
          </a:xfrm>
          <a:prstGeom prst="line"/>
          <a:ln w="21590">
            <a:solidFill>
              <a:srgbClr val="0F1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6" name="Connector 53"/>
          <p:cNvCxnSpPr>
            <a:cxnSpLocks/>
          </p:cNvCxnSpPr>
          <p:nvPr/>
        </p:nvCxnSpPr>
        <p:spPr>
          <a:xfrm>
            <a:off x="9738360" y="4160520"/>
            <a:ext cx="0" cy="640080"/>
          </a:xfrm>
          <a:prstGeom prst="line"/>
          <a:ln w="21590">
            <a:solidFill>
              <a:srgbClr val="0F1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87" name="TextBox 54"/>
          <p:cNvSpPr txBox="1"/>
          <p:nvPr/>
        </p:nvSpPr>
        <p:spPr>
          <a:xfrm>
            <a:off x="502920" y="6547104"/>
            <a:ext cx="2793449" cy="1564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PaymentException GitHub repository • synthetic/offline demo</a:t>
            </a:r>
          </a:p>
        </p:txBody>
      </p:sp>
      <p:sp>
        <p:nvSpPr>
          <p:cNvPr id="1048688" name="TextBox 55"/>
          <p:cNvSpPr txBox="1"/>
          <p:nvPr/>
        </p:nvSpPr>
        <p:spPr>
          <a:xfrm>
            <a:off x="11201400" y="6547104"/>
            <a:ext cx="105664" cy="1564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689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0" name="TextBox 2"/>
          <p:cNvSpPr txBox="1"/>
          <p:nvPr/>
        </p:nvSpPr>
        <p:spPr>
          <a:xfrm>
            <a:off x="502920" y="201168"/>
            <a:ext cx="207264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04</a:t>
            </a:r>
          </a:p>
        </p:txBody>
      </p:sp>
      <p:sp>
        <p:nvSpPr>
          <p:cNvPr id="1048691" name="TextBox 3"/>
          <p:cNvSpPr txBox="1"/>
          <p:nvPr/>
        </p:nvSpPr>
        <p:spPr>
          <a:xfrm>
            <a:off x="941832" y="128016"/>
            <a:ext cx="4258564" cy="423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End-to-End Dispute Workflow</a:t>
            </a:r>
          </a:p>
        </p:txBody>
      </p:sp>
      <p:sp>
        <p:nvSpPr>
          <p:cNvPr id="1048692" name="TextBox 4"/>
          <p:cNvSpPr txBox="1"/>
          <p:nvPr/>
        </p:nvSpPr>
        <p:spPr>
          <a:xfrm>
            <a:off x="941832" y="594360"/>
            <a:ext cx="3904899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The demo follows the customer story through controlled decisioning</a:t>
            </a:r>
          </a:p>
        </p:txBody>
      </p:sp>
      <p:sp>
        <p:nvSpPr>
          <p:cNvPr id="1048693" name="Rounded Rectangle 5"/>
          <p:cNvSpPr/>
          <p:nvPr/>
        </p:nvSpPr>
        <p:spPr>
          <a:xfrm>
            <a:off x="502920" y="1508760"/>
            <a:ext cx="141732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Oval 6"/>
          <p:cNvSpPr/>
          <p:nvPr/>
        </p:nvSpPr>
        <p:spPr>
          <a:xfrm>
            <a:off x="969264" y="1719072"/>
            <a:ext cx="457200" cy="45720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5" name="TextBox 7"/>
          <p:cNvSpPr txBox="1"/>
          <p:nvPr/>
        </p:nvSpPr>
        <p:spPr>
          <a:xfrm>
            <a:off x="969264" y="1847088"/>
            <a:ext cx="10566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00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48696" name="TextBox 8"/>
          <p:cNvSpPr txBox="1"/>
          <p:nvPr/>
        </p:nvSpPr>
        <p:spPr>
          <a:xfrm>
            <a:off x="612648" y="2359152"/>
            <a:ext cx="943865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Customer input</a:t>
            </a:r>
          </a:p>
        </p:txBody>
      </p:sp>
      <p:sp>
        <p:nvSpPr>
          <p:cNvPr id="1048697" name="TextBox 9"/>
          <p:cNvSpPr txBox="1"/>
          <p:nvPr/>
        </p:nvSpPr>
        <p:spPr>
          <a:xfrm>
            <a:off x="612648" y="2852928"/>
            <a:ext cx="996798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860" i="0">
                <a:solidFill>
                  <a:srgbClr val="657285"/>
                </a:solidFill>
                <a:latin typeface="Aptos"/>
              </a:rPr>
              <a:t>Typed or voice claim</a:t>
            </a:r>
          </a:p>
        </p:txBody>
      </p:sp>
      <p:cxnSp>
        <p:nvCxnSpPr>
          <p:cNvPr id="3145737" name="Connector 10"/>
          <p:cNvCxnSpPr>
            <a:cxnSpLocks/>
          </p:cNvCxnSpPr>
          <p:nvPr/>
        </p:nvCxnSpPr>
        <p:spPr>
          <a:xfrm>
            <a:off x="1920240" y="2423160"/>
            <a:ext cx="246888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98" name="Rounded Rectangle 11"/>
          <p:cNvSpPr/>
          <p:nvPr/>
        </p:nvSpPr>
        <p:spPr>
          <a:xfrm>
            <a:off x="2176272" y="1508760"/>
            <a:ext cx="141732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9" name="Oval 12"/>
          <p:cNvSpPr/>
          <p:nvPr/>
        </p:nvSpPr>
        <p:spPr>
          <a:xfrm>
            <a:off x="2642615" y="1719072"/>
            <a:ext cx="457200" cy="45720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0" name="TextBox 13"/>
          <p:cNvSpPr txBox="1"/>
          <p:nvPr/>
        </p:nvSpPr>
        <p:spPr>
          <a:xfrm>
            <a:off x="2642615" y="1847088"/>
            <a:ext cx="13106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00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48701" name="TextBox 14"/>
          <p:cNvSpPr txBox="1"/>
          <p:nvPr/>
        </p:nvSpPr>
        <p:spPr>
          <a:xfrm>
            <a:off x="2286000" y="2359152"/>
            <a:ext cx="381641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Intake</a:t>
            </a:r>
          </a:p>
        </p:txBody>
      </p:sp>
      <p:sp>
        <p:nvSpPr>
          <p:cNvPr id="1048702" name="TextBox 15"/>
          <p:cNvSpPr txBox="1"/>
          <p:nvPr/>
        </p:nvSpPr>
        <p:spPr>
          <a:xfrm>
            <a:off x="2286000" y="2852928"/>
            <a:ext cx="1838469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860" i="0">
                <a:solidFill>
                  <a:srgbClr val="657285"/>
                </a:solidFill>
                <a:latin typeface="Aptos"/>
              </a:rPr>
              <a:t>Extract amount/date/beneficiary/reason</a:t>
            </a:r>
          </a:p>
        </p:txBody>
      </p:sp>
      <p:cxnSp>
        <p:nvCxnSpPr>
          <p:cNvPr id="3145738" name="Connector 16"/>
          <p:cNvCxnSpPr>
            <a:cxnSpLocks/>
          </p:cNvCxnSpPr>
          <p:nvPr/>
        </p:nvCxnSpPr>
        <p:spPr>
          <a:xfrm>
            <a:off x="3593591" y="2423160"/>
            <a:ext cx="246889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03" name="Rounded Rectangle 17"/>
          <p:cNvSpPr/>
          <p:nvPr/>
        </p:nvSpPr>
        <p:spPr>
          <a:xfrm>
            <a:off x="3849624" y="1508760"/>
            <a:ext cx="141732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4" name="Oval 18"/>
          <p:cNvSpPr/>
          <p:nvPr/>
        </p:nvSpPr>
        <p:spPr>
          <a:xfrm>
            <a:off x="4315968" y="1719072"/>
            <a:ext cx="457200" cy="45720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5" name="TextBox 19"/>
          <p:cNvSpPr txBox="1"/>
          <p:nvPr/>
        </p:nvSpPr>
        <p:spPr>
          <a:xfrm>
            <a:off x="4315968" y="1847088"/>
            <a:ext cx="13106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00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48706" name="TextBox 20"/>
          <p:cNvSpPr txBox="1"/>
          <p:nvPr/>
        </p:nvSpPr>
        <p:spPr>
          <a:xfrm>
            <a:off x="3959352" y="2359152"/>
            <a:ext cx="410465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Match</a:t>
            </a:r>
          </a:p>
        </p:txBody>
      </p:sp>
      <p:sp>
        <p:nvSpPr>
          <p:cNvPr id="1048707" name="TextBox 21"/>
          <p:cNvSpPr txBox="1"/>
          <p:nvPr/>
        </p:nvSpPr>
        <p:spPr>
          <a:xfrm>
            <a:off x="3959352" y="2852928"/>
            <a:ext cx="1209869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860" i="0">
                <a:solidFill>
                  <a:srgbClr val="657285"/>
                </a:solidFill>
                <a:latin typeface="Aptos"/>
              </a:rPr>
              <a:t>Rank candidate payments</a:t>
            </a:r>
          </a:p>
        </p:txBody>
      </p:sp>
      <p:cxnSp>
        <p:nvCxnSpPr>
          <p:cNvPr id="3145739" name="Connector 22"/>
          <p:cNvCxnSpPr>
            <a:cxnSpLocks/>
          </p:cNvCxnSpPr>
          <p:nvPr/>
        </p:nvCxnSpPr>
        <p:spPr>
          <a:xfrm>
            <a:off x="5266944" y="2423160"/>
            <a:ext cx="246888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08" name="Rounded Rectangle 23"/>
          <p:cNvSpPr/>
          <p:nvPr/>
        </p:nvSpPr>
        <p:spPr>
          <a:xfrm>
            <a:off x="5522976" y="1508760"/>
            <a:ext cx="141732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9" name="Oval 24"/>
          <p:cNvSpPr/>
          <p:nvPr/>
        </p:nvSpPr>
        <p:spPr>
          <a:xfrm>
            <a:off x="5989320" y="1719072"/>
            <a:ext cx="457200" cy="45720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0" name="TextBox 25"/>
          <p:cNvSpPr txBox="1"/>
          <p:nvPr/>
        </p:nvSpPr>
        <p:spPr>
          <a:xfrm>
            <a:off x="5989320" y="1847088"/>
            <a:ext cx="13106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00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48711" name="TextBox 26"/>
          <p:cNvSpPr txBox="1"/>
          <p:nvPr/>
        </p:nvSpPr>
        <p:spPr>
          <a:xfrm>
            <a:off x="5632704" y="2359152"/>
            <a:ext cx="486664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Classify</a:t>
            </a:r>
          </a:p>
        </p:txBody>
      </p:sp>
      <p:sp>
        <p:nvSpPr>
          <p:cNvPr id="1048712" name="TextBox 27"/>
          <p:cNvSpPr txBox="1"/>
          <p:nvPr/>
        </p:nvSpPr>
        <p:spPr>
          <a:xfrm>
            <a:off x="5632704" y="2852928"/>
            <a:ext cx="1525732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860" i="0">
                <a:solidFill>
                  <a:srgbClr val="657285"/>
                </a:solidFill>
                <a:latin typeface="Aptos"/>
              </a:rPr>
              <a:t>Erroneous / unauthorised / scam</a:t>
            </a:r>
          </a:p>
        </p:txBody>
      </p:sp>
      <p:cxnSp>
        <p:nvCxnSpPr>
          <p:cNvPr id="3145740" name="Connector 28"/>
          <p:cNvCxnSpPr>
            <a:cxnSpLocks/>
          </p:cNvCxnSpPr>
          <p:nvPr/>
        </p:nvCxnSpPr>
        <p:spPr>
          <a:xfrm>
            <a:off x="6940296" y="2423160"/>
            <a:ext cx="246888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3" name="Rounded Rectangle 29"/>
          <p:cNvSpPr/>
          <p:nvPr/>
        </p:nvSpPr>
        <p:spPr>
          <a:xfrm>
            <a:off x="7196328" y="1508760"/>
            <a:ext cx="141732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4" name="Oval 30"/>
          <p:cNvSpPr/>
          <p:nvPr/>
        </p:nvSpPr>
        <p:spPr>
          <a:xfrm>
            <a:off x="7662672" y="1719072"/>
            <a:ext cx="457200" cy="457200"/>
          </a:xfrm>
          <a:prstGeom prst="ellipse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5" name="TextBox 31"/>
          <p:cNvSpPr txBox="1"/>
          <p:nvPr/>
        </p:nvSpPr>
        <p:spPr>
          <a:xfrm>
            <a:off x="7662672" y="1847088"/>
            <a:ext cx="13106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00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048716" name="TextBox 32"/>
          <p:cNvSpPr txBox="1"/>
          <p:nvPr/>
        </p:nvSpPr>
        <p:spPr>
          <a:xfrm>
            <a:off x="7306056" y="2359152"/>
            <a:ext cx="384470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Policy</a:t>
            </a:r>
          </a:p>
        </p:txBody>
      </p:sp>
      <p:sp>
        <p:nvSpPr>
          <p:cNvPr id="1048717" name="TextBox 33"/>
          <p:cNvSpPr txBox="1"/>
          <p:nvPr/>
        </p:nvSpPr>
        <p:spPr>
          <a:xfrm>
            <a:off x="7306056" y="2852928"/>
            <a:ext cx="1170431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860" i="0">
                <a:solidFill>
                  <a:srgbClr val="657285"/>
                </a:solidFill>
                <a:latin typeface="Aptos"/>
              </a:rPr>
              <a:t>Rail + deadline + remedy</a:t>
            </a:r>
          </a:p>
        </p:txBody>
      </p:sp>
      <p:cxnSp>
        <p:nvCxnSpPr>
          <p:cNvPr id="3145741" name="Connector 34"/>
          <p:cNvCxnSpPr>
            <a:cxnSpLocks/>
          </p:cNvCxnSpPr>
          <p:nvPr/>
        </p:nvCxnSpPr>
        <p:spPr>
          <a:xfrm>
            <a:off x="8613648" y="2423160"/>
            <a:ext cx="246888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8" name="Rounded Rectangle 35"/>
          <p:cNvSpPr/>
          <p:nvPr/>
        </p:nvSpPr>
        <p:spPr>
          <a:xfrm>
            <a:off x="8869680" y="1508760"/>
            <a:ext cx="141732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9" name="Oval 36"/>
          <p:cNvSpPr/>
          <p:nvPr/>
        </p:nvSpPr>
        <p:spPr>
          <a:xfrm>
            <a:off x="9336024" y="1719072"/>
            <a:ext cx="457200" cy="457200"/>
          </a:xfrm>
          <a:prstGeom prst="ellipse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0" name="TextBox 37"/>
          <p:cNvSpPr txBox="1"/>
          <p:nvPr/>
        </p:nvSpPr>
        <p:spPr>
          <a:xfrm>
            <a:off x="9336024" y="1847088"/>
            <a:ext cx="13106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00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048721" name="TextBox 38"/>
          <p:cNvSpPr txBox="1"/>
          <p:nvPr/>
        </p:nvSpPr>
        <p:spPr>
          <a:xfrm>
            <a:off x="8979408" y="2359152"/>
            <a:ext cx="537464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Decision</a:t>
            </a:r>
          </a:p>
        </p:txBody>
      </p:sp>
      <p:sp>
        <p:nvSpPr>
          <p:cNvPr id="1048722" name="TextBox 39"/>
          <p:cNvSpPr txBox="1"/>
          <p:nvPr/>
        </p:nvSpPr>
        <p:spPr>
          <a:xfrm>
            <a:off x="8979408" y="2852928"/>
            <a:ext cx="1830532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860" i="0">
                <a:solidFill>
                  <a:srgbClr val="657285"/>
                </a:solidFill>
                <a:latin typeface="Aptos"/>
              </a:rPr>
              <a:t>Request / clarify / escalate / no-remedy</a:t>
            </a:r>
          </a:p>
        </p:txBody>
      </p:sp>
      <p:cxnSp>
        <p:nvCxnSpPr>
          <p:cNvPr id="3145742" name="Connector 40"/>
          <p:cNvCxnSpPr>
            <a:cxnSpLocks/>
          </p:cNvCxnSpPr>
          <p:nvPr/>
        </p:nvCxnSpPr>
        <p:spPr>
          <a:xfrm>
            <a:off x="10287000" y="2423160"/>
            <a:ext cx="246888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23" name="Rounded Rectangle 41"/>
          <p:cNvSpPr/>
          <p:nvPr/>
        </p:nvSpPr>
        <p:spPr>
          <a:xfrm>
            <a:off x="10543032" y="1508760"/>
            <a:ext cx="1417320" cy="182880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4" name="Oval 42"/>
          <p:cNvSpPr/>
          <p:nvPr/>
        </p:nvSpPr>
        <p:spPr>
          <a:xfrm>
            <a:off x="11009376" y="1719072"/>
            <a:ext cx="457200" cy="457200"/>
          </a:xfrm>
          <a:prstGeom prst="ellipse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5" name="TextBox 43"/>
          <p:cNvSpPr txBox="1"/>
          <p:nvPr/>
        </p:nvSpPr>
        <p:spPr>
          <a:xfrm>
            <a:off x="11009376" y="1847088"/>
            <a:ext cx="13106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00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048726" name="TextBox 44"/>
          <p:cNvSpPr txBox="1"/>
          <p:nvPr/>
        </p:nvSpPr>
        <p:spPr>
          <a:xfrm>
            <a:off x="10652760" y="2359152"/>
            <a:ext cx="358523" cy="1945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Audit</a:t>
            </a:r>
          </a:p>
        </p:txBody>
      </p:sp>
      <p:sp>
        <p:nvSpPr>
          <p:cNvPr id="1048727" name="TextBox 45"/>
          <p:cNvSpPr txBox="1"/>
          <p:nvPr/>
        </p:nvSpPr>
        <p:spPr>
          <a:xfrm>
            <a:off x="10652760" y="2852928"/>
            <a:ext cx="1538432" cy="1691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860" i="0">
                <a:solidFill>
                  <a:srgbClr val="657285"/>
                </a:solidFill>
                <a:latin typeface="Aptos"/>
              </a:rPr>
              <a:t>Trace evidence + operator action</a:t>
            </a:r>
          </a:p>
        </p:txBody>
      </p:sp>
      <p:sp>
        <p:nvSpPr>
          <p:cNvPr id="1048728" name="Rounded Rectangle 46"/>
          <p:cNvSpPr/>
          <p:nvPr/>
        </p:nvSpPr>
        <p:spPr>
          <a:xfrm>
            <a:off x="914400" y="3977639"/>
            <a:ext cx="2926080" cy="1234440"/>
          </a:xfrm>
          <a:prstGeom prst="roundRect"/>
          <a:solidFill>
            <a:srgbClr val="EAF6ED"/>
          </a:solidFill>
          <a:ln w="12700">
            <a:solidFill>
              <a:srgbClr val="2F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9" name="TextBox 47"/>
          <p:cNvSpPr txBox="1"/>
          <p:nvPr/>
        </p:nvSpPr>
        <p:spPr>
          <a:xfrm>
            <a:off x="1097280" y="4187952"/>
            <a:ext cx="727964" cy="2453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300" i="0">
                <a:solidFill>
                  <a:srgbClr val="2F844C"/>
                </a:solidFill>
                <a:latin typeface="Aptos"/>
              </a:rPr>
              <a:t>ELIGIBLE</a:t>
            </a:r>
          </a:p>
        </p:txBody>
      </p:sp>
      <p:sp>
        <p:nvSpPr>
          <p:cNvPr id="1048730" name="TextBox 48"/>
          <p:cNvSpPr txBox="1"/>
          <p:nvPr/>
        </p:nvSpPr>
        <p:spPr>
          <a:xfrm>
            <a:off x="1097280" y="4572000"/>
            <a:ext cx="2166239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19" i="0">
                <a:solidFill>
                  <a:srgbClr val="212A38"/>
                </a:solidFill>
                <a:latin typeface="Aptos"/>
              </a:rPr>
              <a:t>Simulated request → human approval</a:t>
            </a:r>
          </a:p>
        </p:txBody>
      </p:sp>
      <p:sp>
        <p:nvSpPr>
          <p:cNvPr id="1048731" name="Rounded Rectangle 49"/>
          <p:cNvSpPr/>
          <p:nvPr/>
        </p:nvSpPr>
        <p:spPr>
          <a:xfrm>
            <a:off x="4617720" y="3977639"/>
            <a:ext cx="2926080" cy="1234440"/>
          </a:xfrm>
          <a:prstGeom prst="roundRect"/>
          <a:solidFill>
            <a:srgbClr val="FCF5E2"/>
          </a:solidFill>
          <a:ln w="12700">
            <a:solidFill>
              <a:srgbClr val="D2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2" name="TextBox 50"/>
          <p:cNvSpPr txBox="1"/>
          <p:nvPr/>
        </p:nvSpPr>
        <p:spPr>
          <a:xfrm>
            <a:off x="4800600" y="4187952"/>
            <a:ext cx="1032765" cy="2453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300" i="0">
                <a:solidFill>
                  <a:srgbClr val="D28918"/>
                </a:solidFill>
                <a:latin typeface="Aptos"/>
              </a:rPr>
              <a:t>AMBIGUOUS</a:t>
            </a:r>
          </a:p>
        </p:txBody>
      </p:sp>
      <p:sp>
        <p:nvSpPr>
          <p:cNvPr id="1048733" name="TextBox 51"/>
          <p:cNvSpPr txBox="1"/>
          <p:nvPr/>
        </p:nvSpPr>
        <p:spPr>
          <a:xfrm>
            <a:off x="4800600" y="4572000"/>
            <a:ext cx="1883814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19" i="0">
                <a:solidFill>
                  <a:srgbClr val="212A38"/>
                </a:solidFill>
                <a:latin typeface="Aptos"/>
              </a:rPr>
              <a:t>Clarification → no silent selection</a:t>
            </a:r>
          </a:p>
        </p:txBody>
      </p:sp>
      <p:sp>
        <p:nvSpPr>
          <p:cNvPr id="1048734" name="Rounded Rectangle 52"/>
          <p:cNvSpPr/>
          <p:nvPr/>
        </p:nvSpPr>
        <p:spPr>
          <a:xfrm>
            <a:off x="8321040" y="3977639"/>
            <a:ext cx="2926080" cy="1234440"/>
          </a:xfrm>
          <a:prstGeom prst="roundRect"/>
          <a:solidFill>
            <a:srgbClr val="FCEDED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5" name="TextBox 53"/>
          <p:cNvSpPr txBox="1"/>
          <p:nvPr/>
        </p:nvSpPr>
        <p:spPr>
          <a:xfrm>
            <a:off x="8503920" y="4187952"/>
            <a:ext cx="1101374" cy="24536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300" i="0">
                <a:solidFill>
                  <a:srgbClr val="BE3737"/>
                </a:solidFill>
                <a:latin typeface="Aptos"/>
              </a:rPr>
              <a:t>NOT ELIGIBLE</a:t>
            </a:r>
          </a:p>
        </p:txBody>
      </p:sp>
      <p:sp>
        <p:nvSpPr>
          <p:cNvPr id="1048736" name="TextBox 54"/>
          <p:cNvSpPr txBox="1"/>
          <p:nvPr/>
        </p:nvSpPr>
        <p:spPr>
          <a:xfrm>
            <a:off x="8503920" y="4572000"/>
            <a:ext cx="1858512" cy="1945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19" i="0">
                <a:solidFill>
                  <a:srgbClr val="212A38"/>
                </a:solidFill>
                <a:latin typeface="Aptos"/>
              </a:rPr>
              <a:t>Manual review or rail no-remedy</a:t>
            </a:r>
          </a:p>
        </p:txBody>
      </p:sp>
      <p:sp>
        <p:nvSpPr>
          <p:cNvPr id="1048737" name="TextBox 55"/>
          <p:cNvSpPr txBox="1"/>
          <p:nvPr/>
        </p:nvSpPr>
        <p:spPr>
          <a:xfrm>
            <a:off x="914400" y="5715000"/>
            <a:ext cx="4312340" cy="2834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500" i="0">
                <a:solidFill>
                  <a:srgbClr val="0F1F36"/>
                </a:solidFill>
                <a:latin typeface="Aptos"/>
              </a:rPr>
              <a:t>Key principle: recommendation is not authorization.</a:t>
            </a:r>
          </a:p>
        </p:txBody>
      </p:sp>
      <p:sp>
        <p:nvSpPr>
          <p:cNvPr id="1048738" name="TextBox 56"/>
          <p:cNvSpPr txBox="1"/>
          <p:nvPr/>
        </p:nvSpPr>
        <p:spPr>
          <a:xfrm>
            <a:off x="502920" y="6547104"/>
            <a:ext cx="2793449" cy="1564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PaymentException GitHub repository • synthetic/offline demo</a:t>
            </a:r>
          </a:p>
        </p:txBody>
      </p:sp>
      <p:sp>
        <p:nvSpPr>
          <p:cNvPr id="1048739" name="TextBox 57"/>
          <p:cNvSpPr txBox="1"/>
          <p:nvPr/>
        </p:nvSpPr>
        <p:spPr>
          <a:xfrm>
            <a:off x="11201400" y="6547104"/>
            <a:ext cx="105664" cy="156465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4</a:t>
            </a:r>
          </a:p>
        </p:txBody>
      </p:sp>
      <p:sp>
        <p:nvSpPr>
          <p:cNvPr id="1048740" name="Rectangle 58"/>
          <p:cNvSpPr/>
          <p:nvPr/>
        </p:nvSpPr>
        <p:spPr>
          <a:xfrm>
            <a:off x="10378440" y="256032"/>
            <a:ext cx="1143000" cy="292608"/>
          </a:xfrm>
          <a:prstGeom prst="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sz="850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741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2" name="TextBox 2"/>
          <p:cNvSpPr txBox="1"/>
          <p:nvPr/>
        </p:nvSpPr>
        <p:spPr>
          <a:xfrm>
            <a:off x="502920" y="201168"/>
            <a:ext cx="411480" cy="25603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05</a:t>
            </a:r>
          </a:p>
        </p:txBody>
      </p:sp>
      <p:sp>
        <p:nvSpPr>
          <p:cNvPr id="1048743" name="TextBox 3"/>
          <p:cNvSpPr txBox="1"/>
          <p:nvPr/>
        </p:nvSpPr>
        <p:spPr>
          <a:xfrm>
            <a:off x="941832" y="128016"/>
            <a:ext cx="10744200" cy="4572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AI Layer &amp; Control Framework</a:t>
            </a:r>
          </a:p>
        </p:txBody>
      </p:sp>
      <p:sp>
        <p:nvSpPr>
          <p:cNvPr id="1048744" name="TextBox 4"/>
          <p:cNvSpPr txBox="1"/>
          <p:nvPr/>
        </p:nvSpPr>
        <p:spPr>
          <a:xfrm>
            <a:off x="941832" y="594360"/>
            <a:ext cx="106070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Structured contracts make confidence, citations and abstention explicit</a:t>
            </a:r>
          </a:p>
        </p:txBody>
      </p:sp>
      <p:sp>
        <p:nvSpPr>
          <p:cNvPr id="1048745" name="Rounded Rectangle 5"/>
          <p:cNvSpPr/>
          <p:nvPr/>
        </p:nvSpPr>
        <p:spPr>
          <a:xfrm>
            <a:off x="640080" y="1234440"/>
            <a:ext cx="5074920" cy="4480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6" name="Rounded Rectangle 6"/>
          <p:cNvSpPr/>
          <p:nvPr/>
        </p:nvSpPr>
        <p:spPr>
          <a:xfrm>
            <a:off x="914400" y="1508760"/>
            <a:ext cx="1600200" cy="310896"/>
          </a:xfrm>
          <a:prstGeom prst="roundRect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7" name="TextBox 7"/>
          <p:cNvSpPr txBox="1"/>
          <p:nvPr/>
        </p:nvSpPr>
        <p:spPr>
          <a:xfrm>
            <a:off x="914400" y="1527048"/>
            <a:ext cx="160020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AI RESULT CONTRACT</a:t>
            </a:r>
          </a:p>
        </p:txBody>
      </p:sp>
      <p:sp>
        <p:nvSpPr>
          <p:cNvPr id="1048748" name="Rounded Rectangle 8"/>
          <p:cNvSpPr/>
          <p:nvPr/>
        </p:nvSpPr>
        <p:spPr>
          <a:xfrm>
            <a:off x="914400" y="1965960"/>
            <a:ext cx="4526280" cy="512064"/>
          </a:xfrm>
          <a:prstGeom prst="roundRect"/>
          <a:solidFill>
            <a:srgbClr val="E8F7F9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9" name="Rectangle 9"/>
          <p:cNvSpPr/>
          <p:nvPr/>
        </p:nvSpPr>
        <p:spPr>
          <a:xfrm>
            <a:off x="914400" y="1965960"/>
            <a:ext cx="64008" cy="512064"/>
          </a:xfrm>
          <a:prstGeom prst="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0" name="TextBox 10"/>
          <p:cNvSpPr txBox="1"/>
          <p:nvPr/>
        </p:nvSpPr>
        <p:spPr>
          <a:xfrm>
            <a:off x="1097280" y="2093976"/>
            <a:ext cx="42062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Value</a:t>
            </a:r>
          </a:p>
        </p:txBody>
      </p:sp>
      <p:sp>
        <p:nvSpPr>
          <p:cNvPr id="1048751" name="TextBox 11"/>
          <p:cNvSpPr txBox="1"/>
          <p:nvPr/>
        </p:nvSpPr>
        <p:spPr>
          <a:xfrm>
            <a:off x="1097280" y="2468880"/>
            <a:ext cx="4206240" cy="-91439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Structured result value</a:t>
            </a:r>
          </a:p>
        </p:txBody>
      </p:sp>
      <p:sp>
        <p:nvSpPr>
          <p:cNvPr id="1048752" name="Rounded Rectangle 12"/>
          <p:cNvSpPr/>
          <p:nvPr/>
        </p:nvSpPr>
        <p:spPr>
          <a:xfrm>
            <a:off x="914400" y="2624328"/>
            <a:ext cx="4526280" cy="512064"/>
          </a:xfrm>
          <a:prstGeom prst="roundRect"/>
          <a:solidFill>
            <a:srgbClr val="E8F7F9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3" name="Rectangle 13"/>
          <p:cNvSpPr/>
          <p:nvPr/>
        </p:nvSpPr>
        <p:spPr>
          <a:xfrm>
            <a:off x="914400" y="2624328"/>
            <a:ext cx="64008" cy="512064"/>
          </a:xfrm>
          <a:prstGeom prst="rect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4" name="TextBox 14"/>
          <p:cNvSpPr txBox="1"/>
          <p:nvPr/>
        </p:nvSpPr>
        <p:spPr>
          <a:xfrm>
            <a:off x="1097280" y="2752344"/>
            <a:ext cx="42062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Confidence</a:t>
            </a:r>
          </a:p>
        </p:txBody>
      </p:sp>
      <p:sp>
        <p:nvSpPr>
          <p:cNvPr id="1048755" name="TextBox 15"/>
          <p:cNvSpPr txBox="1"/>
          <p:nvPr/>
        </p:nvSpPr>
        <p:spPr>
          <a:xfrm>
            <a:off x="1097280" y="3127248"/>
            <a:ext cx="4206240" cy="-91439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0.0–1.0 confidence field</a:t>
            </a:r>
          </a:p>
        </p:txBody>
      </p:sp>
      <p:sp>
        <p:nvSpPr>
          <p:cNvPr id="1048756" name="Rounded Rectangle 16"/>
          <p:cNvSpPr/>
          <p:nvPr/>
        </p:nvSpPr>
        <p:spPr>
          <a:xfrm>
            <a:off x="914400" y="3282696"/>
            <a:ext cx="4526280" cy="512064"/>
          </a:xfrm>
          <a:prstGeom prst="roundRect"/>
          <a:solidFill>
            <a:srgbClr val="E8F7F9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7" name="Rectangle 17"/>
          <p:cNvSpPr/>
          <p:nvPr/>
        </p:nvSpPr>
        <p:spPr>
          <a:xfrm>
            <a:off x="914400" y="3282696"/>
            <a:ext cx="64008" cy="512064"/>
          </a:xfrm>
          <a:prstGeom prst="rect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8" name="TextBox 18"/>
          <p:cNvSpPr txBox="1"/>
          <p:nvPr/>
        </p:nvSpPr>
        <p:spPr>
          <a:xfrm>
            <a:off x="1097280" y="3410712"/>
            <a:ext cx="42062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Citations</a:t>
            </a:r>
          </a:p>
        </p:txBody>
      </p:sp>
      <p:sp>
        <p:nvSpPr>
          <p:cNvPr id="1048759" name="TextBox 19"/>
          <p:cNvSpPr txBox="1"/>
          <p:nvPr/>
        </p:nvSpPr>
        <p:spPr>
          <a:xfrm>
            <a:off x="1097280" y="3785615"/>
            <a:ext cx="4206240" cy="-91439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Source + reference + optional quote</a:t>
            </a:r>
          </a:p>
        </p:txBody>
      </p:sp>
      <p:sp>
        <p:nvSpPr>
          <p:cNvPr id="1048760" name="Rounded Rectangle 20"/>
          <p:cNvSpPr/>
          <p:nvPr/>
        </p:nvSpPr>
        <p:spPr>
          <a:xfrm>
            <a:off x="914400" y="3941064"/>
            <a:ext cx="4526280" cy="512064"/>
          </a:xfrm>
          <a:prstGeom prst="roundRect"/>
          <a:solidFill>
            <a:srgbClr val="FCF5E2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1" name="Rectangle 21"/>
          <p:cNvSpPr/>
          <p:nvPr/>
        </p:nvSpPr>
        <p:spPr>
          <a:xfrm>
            <a:off x="914400" y="3941064"/>
            <a:ext cx="64008" cy="512064"/>
          </a:xfrm>
          <a:prstGeom prst="rect"/>
          <a:solidFill>
            <a:srgbClr val="D2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2" name="TextBox 22"/>
          <p:cNvSpPr txBox="1"/>
          <p:nvPr/>
        </p:nvSpPr>
        <p:spPr>
          <a:xfrm>
            <a:off x="1097280" y="4069080"/>
            <a:ext cx="42062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Abstained</a:t>
            </a:r>
          </a:p>
        </p:txBody>
      </p:sp>
      <p:sp>
        <p:nvSpPr>
          <p:cNvPr id="1048763" name="TextBox 23"/>
          <p:cNvSpPr txBox="1"/>
          <p:nvPr/>
        </p:nvSpPr>
        <p:spPr>
          <a:xfrm>
            <a:off x="1097280" y="4443984"/>
            <a:ext cx="4206240" cy="-91439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Explicit abstention flag</a:t>
            </a:r>
          </a:p>
        </p:txBody>
      </p:sp>
      <p:sp>
        <p:nvSpPr>
          <p:cNvPr id="1048764" name="Rounded Rectangle 24"/>
          <p:cNvSpPr/>
          <p:nvPr/>
        </p:nvSpPr>
        <p:spPr>
          <a:xfrm>
            <a:off x="914400" y="4599431"/>
            <a:ext cx="4526280" cy="512064"/>
          </a:xfrm>
          <a:prstGeom prst="roundRect"/>
          <a:solidFill>
            <a:srgbClr val="F3EF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5" name="Rectangle 25"/>
          <p:cNvSpPr/>
          <p:nvPr/>
        </p:nvSpPr>
        <p:spPr>
          <a:xfrm>
            <a:off x="914400" y="4599431"/>
            <a:ext cx="64008" cy="512064"/>
          </a:xfrm>
          <a:prstGeom prst="rect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6" name="TextBox 26"/>
          <p:cNvSpPr txBox="1"/>
          <p:nvPr/>
        </p:nvSpPr>
        <p:spPr>
          <a:xfrm>
            <a:off x="1097280" y="4727447"/>
            <a:ext cx="42062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80" i="0">
                <a:solidFill>
                  <a:srgbClr val="0F1F36"/>
                </a:solidFill>
                <a:latin typeface="Aptos"/>
              </a:rPr>
              <a:t>Reasoning</a:t>
            </a:r>
          </a:p>
        </p:txBody>
      </p:sp>
      <p:sp>
        <p:nvSpPr>
          <p:cNvPr id="1048767" name="TextBox 27"/>
          <p:cNvSpPr txBox="1"/>
          <p:nvPr/>
        </p:nvSpPr>
        <p:spPr>
          <a:xfrm>
            <a:off x="1097280" y="5102351"/>
            <a:ext cx="4206240" cy="-91439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19" i="0">
                <a:solidFill>
                  <a:srgbClr val="212A38"/>
                </a:solidFill>
                <a:latin typeface="Aptos"/>
              </a:rPr>
              <a:t>Operator-facing explanation</a:t>
            </a:r>
          </a:p>
        </p:txBody>
      </p:sp>
      <p:sp>
        <p:nvSpPr>
          <p:cNvPr id="1048768" name="Rounded Rectangle 28"/>
          <p:cNvSpPr/>
          <p:nvPr/>
        </p:nvSpPr>
        <p:spPr>
          <a:xfrm>
            <a:off x="6080760" y="1234440"/>
            <a:ext cx="5440680" cy="4480560"/>
          </a:xfrm>
          <a:prstGeom prst="round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9" name="Rounded Rectangle 29"/>
          <p:cNvSpPr/>
          <p:nvPr/>
        </p:nvSpPr>
        <p:spPr>
          <a:xfrm>
            <a:off x="6355080" y="1508760"/>
            <a:ext cx="1417320" cy="310896"/>
          </a:xfrm>
          <a:prstGeom prst="round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0" name="TextBox 30"/>
          <p:cNvSpPr txBox="1"/>
          <p:nvPr/>
        </p:nvSpPr>
        <p:spPr>
          <a:xfrm>
            <a:off x="6355080" y="1527048"/>
            <a:ext cx="141732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0F1F36"/>
                </a:solidFill>
                <a:latin typeface="Aptos"/>
              </a:rPr>
              <a:t>CONTROL PLANE</a:t>
            </a:r>
          </a:p>
        </p:txBody>
      </p:sp>
      <p:sp>
        <p:nvSpPr>
          <p:cNvPr id="1048771" name="Oval 31"/>
          <p:cNvSpPr/>
          <p:nvPr/>
        </p:nvSpPr>
        <p:spPr>
          <a:xfrm>
            <a:off x="6400800" y="2084831"/>
            <a:ext cx="155448" cy="155448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2" name="TextBox 32"/>
          <p:cNvSpPr txBox="1"/>
          <p:nvPr/>
        </p:nvSpPr>
        <p:spPr>
          <a:xfrm>
            <a:off x="6656832" y="1993392"/>
            <a:ext cx="4434840" cy="32918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60" i="0">
                <a:solidFill>
                  <a:srgbClr val="FFFFFF"/>
                </a:solidFill>
                <a:latin typeface="Aptos"/>
              </a:rPr>
              <a:t>Rail rules determine remedy eligibility</a:t>
            </a:r>
          </a:p>
        </p:txBody>
      </p:sp>
      <p:sp>
        <p:nvSpPr>
          <p:cNvPr id="1048773" name="Oval 33"/>
          <p:cNvSpPr/>
          <p:nvPr/>
        </p:nvSpPr>
        <p:spPr>
          <a:xfrm>
            <a:off x="6400800" y="2606039"/>
            <a:ext cx="155448" cy="155448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4" name="TextBox 34"/>
          <p:cNvSpPr txBox="1"/>
          <p:nvPr/>
        </p:nvSpPr>
        <p:spPr>
          <a:xfrm>
            <a:off x="6656832" y="2514600"/>
            <a:ext cx="4434840" cy="32918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60" i="0">
                <a:solidFill>
                  <a:srgbClr val="FFFFFF"/>
                </a:solidFill>
                <a:latin typeface="Aptos"/>
              </a:rPr>
              <a:t>Deadline rules determine timing</a:t>
            </a:r>
          </a:p>
        </p:txBody>
      </p:sp>
      <p:sp>
        <p:nvSpPr>
          <p:cNvPr id="1048775" name="Oval 35"/>
          <p:cNvSpPr/>
          <p:nvPr/>
        </p:nvSpPr>
        <p:spPr>
          <a:xfrm>
            <a:off x="6400800" y="3127248"/>
            <a:ext cx="155448" cy="155448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6" name="TextBox 36"/>
          <p:cNvSpPr txBox="1"/>
          <p:nvPr/>
        </p:nvSpPr>
        <p:spPr>
          <a:xfrm>
            <a:off x="6656832" y="3035808"/>
            <a:ext cx="4434840" cy="32918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60" i="0">
                <a:solidFill>
                  <a:srgbClr val="FFFFFF"/>
                </a:solidFill>
                <a:latin typeface="Aptos"/>
              </a:rPr>
              <a:t>Ambiguity gates prevent silent selection</a:t>
            </a:r>
          </a:p>
        </p:txBody>
      </p:sp>
      <p:sp>
        <p:nvSpPr>
          <p:cNvPr id="1048777" name="Oval 37"/>
          <p:cNvSpPr/>
          <p:nvPr/>
        </p:nvSpPr>
        <p:spPr>
          <a:xfrm>
            <a:off x="6400800" y="3648456"/>
            <a:ext cx="155448" cy="155448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8" name="TextBox 38"/>
          <p:cNvSpPr txBox="1"/>
          <p:nvPr/>
        </p:nvSpPr>
        <p:spPr>
          <a:xfrm>
            <a:off x="6656832" y="3557016"/>
            <a:ext cx="4434840" cy="32918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60" i="0">
                <a:solidFill>
                  <a:srgbClr val="FFFFFF"/>
                </a:solidFill>
                <a:latin typeface="Aptos"/>
              </a:rPr>
              <a:t>Guardrails validate final results</a:t>
            </a:r>
          </a:p>
        </p:txBody>
      </p:sp>
      <p:sp>
        <p:nvSpPr>
          <p:cNvPr id="1048779" name="Oval 39"/>
          <p:cNvSpPr/>
          <p:nvPr/>
        </p:nvSpPr>
        <p:spPr>
          <a:xfrm>
            <a:off x="6400800" y="4169663"/>
            <a:ext cx="155448" cy="155448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0" name="TextBox 40"/>
          <p:cNvSpPr txBox="1"/>
          <p:nvPr/>
        </p:nvSpPr>
        <p:spPr>
          <a:xfrm>
            <a:off x="6656832" y="4078224"/>
            <a:ext cx="4434840" cy="32918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60" i="0">
                <a:solidFill>
                  <a:srgbClr val="FFFFFF"/>
                </a:solidFill>
                <a:latin typeface="Aptos"/>
              </a:rPr>
              <a:t>Trace records claim, result and guardrails</a:t>
            </a:r>
          </a:p>
        </p:txBody>
      </p:sp>
      <p:sp>
        <p:nvSpPr>
          <p:cNvPr id="1048781" name="Oval 41"/>
          <p:cNvSpPr/>
          <p:nvPr/>
        </p:nvSpPr>
        <p:spPr>
          <a:xfrm>
            <a:off x="6400800" y="4690871"/>
            <a:ext cx="155448" cy="155448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2" name="TextBox 42"/>
          <p:cNvSpPr txBox="1"/>
          <p:nvPr/>
        </p:nvSpPr>
        <p:spPr>
          <a:xfrm>
            <a:off x="6656832" y="4599431"/>
            <a:ext cx="4434840" cy="32918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60" i="0">
                <a:solidFill>
                  <a:srgbClr val="FFFFFF"/>
                </a:solidFill>
                <a:latin typeface="Aptos"/>
              </a:rPr>
              <a:t>Human approval remains mandatory</a:t>
            </a:r>
          </a:p>
        </p:txBody>
      </p:sp>
      <p:sp>
        <p:nvSpPr>
          <p:cNvPr id="1048783" name="Rounded Rectangle 43"/>
          <p:cNvSpPr/>
          <p:nvPr/>
        </p:nvSpPr>
        <p:spPr>
          <a:xfrm>
            <a:off x="1828800" y="5897880"/>
            <a:ext cx="8503920" cy="438912"/>
          </a:xfrm>
          <a:prstGeom prst="roundRect"/>
          <a:solidFill>
            <a:srgbClr val="EAF1FB"/>
          </a:solidFill>
          <a:ln w="12700">
            <a:solidFill>
              <a:srgbClr val="26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4" name="TextBox 44"/>
          <p:cNvSpPr txBox="1"/>
          <p:nvPr/>
        </p:nvSpPr>
        <p:spPr>
          <a:xfrm>
            <a:off x="1965960" y="5980176"/>
            <a:ext cx="8229600" cy="237744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“AI accelerates understanding; deterministic controls decide what may happen.”</a:t>
            </a:r>
          </a:p>
        </p:txBody>
      </p:sp>
      <p:sp>
        <p:nvSpPr>
          <p:cNvPr id="1048785" name="TextBox 45"/>
          <p:cNvSpPr txBox="1"/>
          <p:nvPr/>
        </p:nvSpPr>
        <p:spPr>
          <a:xfrm>
            <a:off x="502920" y="6547104"/>
            <a:ext cx="996696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PaymentException GitHub repository • synthetic/offline demo</a:t>
            </a:r>
          </a:p>
        </p:txBody>
      </p:sp>
      <p:sp>
        <p:nvSpPr>
          <p:cNvPr id="1048786" name="TextBox 46"/>
          <p:cNvSpPr txBox="1"/>
          <p:nvPr/>
        </p:nvSpPr>
        <p:spPr>
          <a:xfrm>
            <a:off x="11201400" y="6547104"/>
            <a:ext cx="45720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5</a:t>
            </a:r>
          </a:p>
        </p:txBody>
      </p:sp>
      <p:sp>
        <p:nvSpPr>
          <p:cNvPr id="1048787" name="Rectangle 47"/>
          <p:cNvSpPr/>
          <p:nvPr/>
        </p:nvSpPr>
        <p:spPr>
          <a:xfrm>
            <a:off x="10378440" y="256032"/>
            <a:ext cx="1143000" cy="292608"/>
          </a:xfrm>
          <a:prstGeom prst="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sz="850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788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9" name="TextBox 2"/>
          <p:cNvSpPr txBox="1"/>
          <p:nvPr/>
        </p:nvSpPr>
        <p:spPr>
          <a:xfrm>
            <a:off x="502920" y="201168"/>
            <a:ext cx="411480" cy="25603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06</a:t>
            </a:r>
          </a:p>
        </p:txBody>
      </p:sp>
      <p:sp>
        <p:nvSpPr>
          <p:cNvPr id="1048790" name="TextBox 3"/>
          <p:cNvSpPr txBox="1"/>
          <p:nvPr/>
        </p:nvSpPr>
        <p:spPr>
          <a:xfrm>
            <a:off x="941832" y="128016"/>
            <a:ext cx="10744200" cy="4572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Demo Experience</a:t>
            </a:r>
          </a:p>
        </p:txBody>
      </p:sp>
      <p:sp>
        <p:nvSpPr>
          <p:cNvPr id="1048791" name="TextBox 4"/>
          <p:cNvSpPr txBox="1"/>
          <p:nvPr/>
        </p:nvSpPr>
        <p:spPr>
          <a:xfrm>
            <a:off x="941832" y="594360"/>
            <a:ext cx="106070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Three connected interfaces support the stakeholder journey</a:t>
            </a:r>
          </a:p>
        </p:txBody>
      </p:sp>
      <p:sp>
        <p:nvSpPr>
          <p:cNvPr id="1048792" name="Rounded Rectangle 5"/>
          <p:cNvSpPr/>
          <p:nvPr/>
        </p:nvSpPr>
        <p:spPr>
          <a:xfrm>
            <a:off x="685800" y="1371600"/>
            <a:ext cx="3429000" cy="306324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3" name="Rounded Rectangle 6"/>
          <p:cNvSpPr/>
          <p:nvPr/>
        </p:nvSpPr>
        <p:spPr>
          <a:xfrm>
            <a:off x="685800" y="1371600"/>
            <a:ext cx="3429000" cy="32004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4" name="Oval 7"/>
          <p:cNvSpPr/>
          <p:nvPr/>
        </p:nvSpPr>
        <p:spPr>
          <a:xfrm>
            <a:off x="886968" y="1874519"/>
            <a:ext cx="475488" cy="475488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5" name="TextBox 8"/>
          <p:cNvSpPr txBox="1"/>
          <p:nvPr/>
        </p:nvSpPr>
        <p:spPr>
          <a:xfrm>
            <a:off x="886968" y="2002536"/>
            <a:ext cx="475488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48796" name="TextBox 9"/>
          <p:cNvSpPr txBox="1"/>
          <p:nvPr/>
        </p:nvSpPr>
        <p:spPr>
          <a:xfrm>
            <a:off x="1527048" y="1865376"/>
            <a:ext cx="2240280" cy="32004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400" i="0">
                <a:solidFill>
                  <a:srgbClr val="0F1F36"/>
                </a:solidFill>
                <a:latin typeface="Aptos"/>
              </a:rPr>
              <a:t>Customer Portal</a:t>
            </a:r>
          </a:p>
        </p:txBody>
      </p:sp>
      <p:sp>
        <p:nvSpPr>
          <p:cNvPr id="1048797" name="Rounded Rectangle 10"/>
          <p:cNvSpPr/>
          <p:nvPr/>
        </p:nvSpPr>
        <p:spPr>
          <a:xfrm>
            <a:off x="914400" y="2468880"/>
            <a:ext cx="2971800" cy="1463040"/>
          </a:xfrm>
          <a:prstGeom prst="roundRect"/>
          <a:solidFill>
            <a:srgbClr val="F6F8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8" name="Rounded Rectangle 11"/>
          <p:cNvSpPr/>
          <p:nvPr/>
        </p:nvSpPr>
        <p:spPr>
          <a:xfrm>
            <a:off x="1124712" y="2697480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9" name="Rounded Rectangle 12"/>
          <p:cNvSpPr/>
          <p:nvPr/>
        </p:nvSpPr>
        <p:spPr>
          <a:xfrm>
            <a:off x="1124712" y="2953512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0" name="Rounded Rectangle 13"/>
          <p:cNvSpPr/>
          <p:nvPr/>
        </p:nvSpPr>
        <p:spPr>
          <a:xfrm>
            <a:off x="1124712" y="3209544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1" name="Rounded Rectangle 14"/>
          <p:cNvSpPr/>
          <p:nvPr/>
        </p:nvSpPr>
        <p:spPr>
          <a:xfrm>
            <a:off x="1124712" y="3465576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2" name="Oval 15"/>
          <p:cNvSpPr/>
          <p:nvPr/>
        </p:nvSpPr>
        <p:spPr>
          <a:xfrm>
            <a:off x="3337560" y="2816352"/>
            <a:ext cx="310896" cy="310896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3" name="TextBox 16"/>
          <p:cNvSpPr txBox="1"/>
          <p:nvPr/>
        </p:nvSpPr>
        <p:spPr>
          <a:xfrm>
            <a:off x="914400" y="4133087"/>
            <a:ext cx="297180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930" i="0">
                <a:solidFill>
                  <a:srgbClr val="657285"/>
                </a:solidFill>
                <a:latin typeface="Aptos"/>
              </a:rPr>
              <a:t>Claim intake • voice capture • clarification • simulated confirmation</a:t>
            </a:r>
          </a:p>
        </p:txBody>
      </p:sp>
      <p:sp>
        <p:nvSpPr>
          <p:cNvPr id="1048804" name="Rounded Rectangle 17"/>
          <p:cNvSpPr/>
          <p:nvPr/>
        </p:nvSpPr>
        <p:spPr>
          <a:xfrm>
            <a:off x="4480560" y="1371600"/>
            <a:ext cx="3429000" cy="306324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5" name="Rounded Rectangle 18"/>
          <p:cNvSpPr/>
          <p:nvPr/>
        </p:nvSpPr>
        <p:spPr>
          <a:xfrm>
            <a:off x="4480560" y="1371600"/>
            <a:ext cx="3429000" cy="320040"/>
          </a:xfrm>
          <a:prstGeom prst="roundRect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6" name="Oval 19"/>
          <p:cNvSpPr/>
          <p:nvPr/>
        </p:nvSpPr>
        <p:spPr>
          <a:xfrm>
            <a:off x="4681728" y="1874519"/>
            <a:ext cx="475488" cy="475488"/>
          </a:xfrm>
          <a:prstGeom prst="ellipse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7" name="TextBox 20"/>
          <p:cNvSpPr txBox="1"/>
          <p:nvPr/>
        </p:nvSpPr>
        <p:spPr>
          <a:xfrm>
            <a:off x="4681728" y="2002536"/>
            <a:ext cx="475488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48808" name="TextBox 21"/>
          <p:cNvSpPr txBox="1"/>
          <p:nvPr/>
        </p:nvSpPr>
        <p:spPr>
          <a:xfrm>
            <a:off x="5321808" y="1865376"/>
            <a:ext cx="2240280" cy="32004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400" i="0">
                <a:solidFill>
                  <a:srgbClr val="0F1F36"/>
                </a:solidFill>
                <a:latin typeface="Aptos"/>
              </a:rPr>
              <a:t>Operations Console</a:t>
            </a:r>
          </a:p>
        </p:txBody>
      </p:sp>
      <p:sp>
        <p:nvSpPr>
          <p:cNvPr id="1048809" name="Rounded Rectangle 22"/>
          <p:cNvSpPr/>
          <p:nvPr/>
        </p:nvSpPr>
        <p:spPr>
          <a:xfrm>
            <a:off x="4709160" y="2468880"/>
            <a:ext cx="2971800" cy="1463040"/>
          </a:xfrm>
          <a:prstGeom prst="roundRect"/>
          <a:solidFill>
            <a:srgbClr val="F6F8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0" name="Rounded Rectangle 23"/>
          <p:cNvSpPr/>
          <p:nvPr/>
        </p:nvSpPr>
        <p:spPr>
          <a:xfrm>
            <a:off x="4919472" y="2697480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1" name="Rounded Rectangle 24"/>
          <p:cNvSpPr/>
          <p:nvPr/>
        </p:nvSpPr>
        <p:spPr>
          <a:xfrm>
            <a:off x="4919472" y="2953512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2" name="Rounded Rectangle 25"/>
          <p:cNvSpPr/>
          <p:nvPr/>
        </p:nvSpPr>
        <p:spPr>
          <a:xfrm>
            <a:off x="4919472" y="3209544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3" name="Rounded Rectangle 26"/>
          <p:cNvSpPr/>
          <p:nvPr/>
        </p:nvSpPr>
        <p:spPr>
          <a:xfrm>
            <a:off x="4919472" y="3465576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4" name="Oval 27"/>
          <p:cNvSpPr/>
          <p:nvPr/>
        </p:nvSpPr>
        <p:spPr>
          <a:xfrm>
            <a:off x="7132320" y="2816352"/>
            <a:ext cx="310896" cy="310896"/>
          </a:xfrm>
          <a:prstGeom prst="ellipse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5" name="TextBox 28"/>
          <p:cNvSpPr txBox="1"/>
          <p:nvPr/>
        </p:nvSpPr>
        <p:spPr>
          <a:xfrm>
            <a:off x="4709160" y="4133087"/>
            <a:ext cx="297180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930" i="0">
                <a:solidFill>
                  <a:srgbClr val="657285"/>
                </a:solidFill>
                <a:latin typeface="Aptos"/>
              </a:rPr>
              <a:t>Queue • deep-dive audit • SLA tester • Smart Audit • analytics</a:t>
            </a:r>
          </a:p>
        </p:txBody>
      </p:sp>
      <p:sp>
        <p:nvSpPr>
          <p:cNvPr id="1048816" name="Rounded Rectangle 29"/>
          <p:cNvSpPr/>
          <p:nvPr/>
        </p:nvSpPr>
        <p:spPr>
          <a:xfrm>
            <a:off x="8275320" y="1371600"/>
            <a:ext cx="3429000" cy="306324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7" name="Rounded Rectangle 30"/>
          <p:cNvSpPr/>
          <p:nvPr/>
        </p:nvSpPr>
        <p:spPr>
          <a:xfrm>
            <a:off x="8275320" y="1371600"/>
            <a:ext cx="3429000" cy="320040"/>
          </a:xfrm>
          <a:prstGeom prst="roundRect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8" name="Oval 31"/>
          <p:cNvSpPr/>
          <p:nvPr/>
        </p:nvSpPr>
        <p:spPr>
          <a:xfrm>
            <a:off x="8476488" y="1874519"/>
            <a:ext cx="475488" cy="475488"/>
          </a:xfrm>
          <a:prstGeom prst="ellipse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9" name="TextBox 32"/>
          <p:cNvSpPr txBox="1"/>
          <p:nvPr/>
        </p:nvSpPr>
        <p:spPr>
          <a:xfrm>
            <a:off x="8476488" y="2002536"/>
            <a:ext cx="475488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48820" name="TextBox 33"/>
          <p:cNvSpPr txBox="1"/>
          <p:nvPr/>
        </p:nvSpPr>
        <p:spPr>
          <a:xfrm>
            <a:off x="9116568" y="1865376"/>
            <a:ext cx="2240280" cy="32004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400" i="0">
                <a:solidFill>
                  <a:srgbClr val="0F1F36"/>
                </a:solidFill>
                <a:latin typeface="Aptos"/>
              </a:rPr>
              <a:t>React Voice Console</a:t>
            </a:r>
          </a:p>
        </p:txBody>
      </p:sp>
      <p:sp>
        <p:nvSpPr>
          <p:cNvPr id="1048821" name="Rounded Rectangle 34"/>
          <p:cNvSpPr/>
          <p:nvPr/>
        </p:nvSpPr>
        <p:spPr>
          <a:xfrm>
            <a:off x="8503920" y="2468880"/>
            <a:ext cx="2971800" cy="1463040"/>
          </a:xfrm>
          <a:prstGeom prst="roundRect"/>
          <a:solidFill>
            <a:srgbClr val="F6F8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2" name="Rounded Rectangle 35"/>
          <p:cNvSpPr/>
          <p:nvPr/>
        </p:nvSpPr>
        <p:spPr>
          <a:xfrm>
            <a:off x="8714232" y="2697480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3" name="Rounded Rectangle 36"/>
          <p:cNvSpPr/>
          <p:nvPr/>
        </p:nvSpPr>
        <p:spPr>
          <a:xfrm>
            <a:off x="8714232" y="2953512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4" name="Rounded Rectangle 37"/>
          <p:cNvSpPr/>
          <p:nvPr/>
        </p:nvSpPr>
        <p:spPr>
          <a:xfrm>
            <a:off x="8714232" y="3209544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5" name="Rounded Rectangle 38"/>
          <p:cNvSpPr/>
          <p:nvPr/>
        </p:nvSpPr>
        <p:spPr>
          <a:xfrm>
            <a:off x="8714232" y="3465576"/>
            <a:ext cx="2103120" cy="118872"/>
          </a:xfrm>
          <a:prstGeom prst="roundRect"/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6" name="Oval 39"/>
          <p:cNvSpPr/>
          <p:nvPr/>
        </p:nvSpPr>
        <p:spPr>
          <a:xfrm>
            <a:off x="10927080" y="2816352"/>
            <a:ext cx="310896" cy="310896"/>
          </a:xfrm>
          <a:prstGeom prst="ellipse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7" name="TextBox 40"/>
          <p:cNvSpPr txBox="1"/>
          <p:nvPr/>
        </p:nvSpPr>
        <p:spPr>
          <a:xfrm>
            <a:off x="8503920" y="4133087"/>
            <a:ext cx="297180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930" i="0">
                <a:solidFill>
                  <a:srgbClr val="657285"/>
                </a:solidFill>
                <a:latin typeface="Aptos"/>
              </a:rPr>
              <a:t>Voice states • transcript flow • candidate-search feedback</a:t>
            </a:r>
          </a:p>
        </p:txBody>
      </p:sp>
      <p:sp>
        <p:nvSpPr>
          <p:cNvPr id="1048828" name="Rounded Rectangle 41"/>
          <p:cNvSpPr/>
          <p:nvPr/>
        </p:nvSpPr>
        <p:spPr>
          <a:xfrm>
            <a:off x="914400" y="4983480"/>
            <a:ext cx="192024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9" name="TextBox 42"/>
          <p:cNvSpPr txBox="1"/>
          <p:nvPr/>
        </p:nvSpPr>
        <p:spPr>
          <a:xfrm>
            <a:off x="914400" y="5001768"/>
            <a:ext cx="19202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CUSTOMER CLAIM</a:t>
            </a:r>
          </a:p>
        </p:txBody>
      </p:sp>
      <p:cxnSp>
        <p:nvCxnSpPr>
          <p:cNvPr id="3145743" name="Connector 43"/>
          <p:cNvCxnSpPr>
            <a:cxnSpLocks/>
          </p:cNvCxnSpPr>
          <p:nvPr/>
        </p:nvCxnSpPr>
        <p:spPr>
          <a:xfrm>
            <a:off x="2834640" y="5138928"/>
            <a:ext cx="914399" cy="0"/>
          </a:xfrm>
          <a:prstGeom prst="line"/>
          <a:ln w="2540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30" name="Rounded Rectangle 44"/>
          <p:cNvSpPr/>
          <p:nvPr/>
        </p:nvSpPr>
        <p:spPr>
          <a:xfrm>
            <a:off x="3794760" y="4983480"/>
            <a:ext cx="1920240" cy="310896"/>
          </a:xfrm>
          <a:prstGeom prst="roundRect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1" name="TextBox 45"/>
          <p:cNvSpPr txBox="1"/>
          <p:nvPr/>
        </p:nvSpPr>
        <p:spPr>
          <a:xfrm>
            <a:off x="3794760" y="5001768"/>
            <a:ext cx="19202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cxnSp>
        <p:nvCxnSpPr>
          <p:cNvPr id="3145744" name="Connector 46"/>
          <p:cNvCxnSpPr>
            <a:cxnSpLocks/>
          </p:cNvCxnSpPr>
          <p:nvPr/>
        </p:nvCxnSpPr>
        <p:spPr>
          <a:xfrm>
            <a:off x="5715000" y="5138928"/>
            <a:ext cx="914400" cy="0"/>
          </a:xfrm>
          <a:prstGeom prst="line"/>
          <a:ln w="2540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32" name="Rounded Rectangle 47"/>
          <p:cNvSpPr/>
          <p:nvPr/>
        </p:nvSpPr>
        <p:spPr>
          <a:xfrm>
            <a:off x="6675120" y="4983480"/>
            <a:ext cx="1920240" cy="310896"/>
          </a:xfrm>
          <a:prstGeom prst="roundRect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3" name="TextBox 48"/>
          <p:cNvSpPr txBox="1"/>
          <p:nvPr/>
        </p:nvSpPr>
        <p:spPr>
          <a:xfrm>
            <a:off x="6675120" y="5001768"/>
            <a:ext cx="19202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AUDIT / APPROVAL</a:t>
            </a:r>
          </a:p>
        </p:txBody>
      </p:sp>
      <p:sp>
        <p:nvSpPr>
          <p:cNvPr id="1048834" name="TextBox 49"/>
          <p:cNvSpPr txBox="1"/>
          <p:nvPr/>
        </p:nvSpPr>
        <p:spPr>
          <a:xfrm>
            <a:off x="914400" y="5715000"/>
            <a:ext cx="10332720" cy="36576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150" i="0">
                <a:solidFill>
                  <a:srgbClr val="0F1F36"/>
                </a:solidFill>
                <a:latin typeface="Aptos"/>
              </a:rPr>
              <a:t>Suggested live flow: start with a natural-language claim, then follow the case into the operator console.</a:t>
            </a:r>
          </a:p>
        </p:txBody>
      </p:sp>
      <p:sp>
        <p:nvSpPr>
          <p:cNvPr id="1048835" name="TextBox 50"/>
          <p:cNvSpPr txBox="1"/>
          <p:nvPr/>
        </p:nvSpPr>
        <p:spPr>
          <a:xfrm>
            <a:off x="502920" y="6547104"/>
            <a:ext cx="996696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PaymentException GitHub repository • synthetic/offline demo</a:t>
            </a:r>
          </a:p>
        </p:txBody>
      </p:sp>
      <p:sp>
        <p:nvSpPr>
          <p:cNvPr id="1048836" name="TextBox 51"/>
          <p:cNvSpPr txBox="1"/>
          <p:nvPr/>
        </p:nvSpPr>
        <p:spPr>
          <a:xfrm>
            <a:off x="11201400" y="6547104"/>
            <a:ext cx="45720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6</a:t>
            </a:r>
          </a:p>
        </p:txBody>
      </p:sp>
      <p:sp>
        <p:nvSpPr>
          <p:cNvPr id="1048837" name="Rectangle 52"/>
          <p:cNvSpPr/>
          <p:nvPr/>
        </p:nvSpPr>
        <p:spPr>
          <a:xfrm>
            <a:off x="10378440" y="256032"/>
            <a:ext cx="1143000" cy="292608"/>
          </a:xfrm>
          <a:prstGeom prst="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sz="850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838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9" name="TextBox 2"/>
          <p:cNvSpPr txBox="1"/>
          <p:nvPr/>
        </p:nvSpPr>
        <p:spPr>
          <a:xfrm>
            <a:off x="502920" y="201168"/>
            <a:ext cx="411480" cy="25603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07</a:t>
            </a:r>
          </a:p>
        </p:txBody>
      </p:sp>
      <p:sp>
        <p:nvSpPr>
          <p:cNvPr id="1048840" name="TextBox 3"/>
          <p:cNvSpPr txBox="1"/>
          <p:nvPr/>
        </p:nvSpPr>
        <p:spPr>
          <a:xfrm>
            <a:off x="941832" y="128016"/>
            <a:ext cx="10744200" cy="4572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Policy Engine: Rail + Deadline Decisioning</a:t>
            </a:r>
          </a:p>
        </p:txBody>
      </p:sp>
      <p:sp>
        <p:nvSpPr>
          <p:cNvPr id="1048841" name="TextBox 4"/>
          <p:cNvSpPr txBox="1"/>
          <p:nvPr/>
        </p:nvSpPr>
        <p:spPr>
          <a:xfrm>
            <a:off x="941832" y="594360"/>
            <a:ext cx="106070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The most important control in the demo is deterministic eligibility</a:t>
            </a:r>
          </a:p>
        </p:txBody>
      </p:sp>
      <p:sp>
        <p:nvSpPr>
          <p:cNvPr id="1048842" name="Rounded Rectangle 5"/>
          <p:cNvSpPr/>
          <p:nvPr/>
        </p:nvSpPr>
        <p:spPr>
          <a:xfrm>
            <a:off x="640080" y="1234440"/>
            <a:ext cx="5212080" cy="4480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43" name="TextBox 6"/>
          <p:cNvSpPr txBox="1"/>
          <p:nvPr/>
        </p:nvSpPr>
        <p:spPr>
          <a:xfrm>
            <a:off x="868680" y="1508760"/>
            <a:ext cx="475488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300" i="0">
                <a:solidFill>
                  <a:srgbClr val="0F1F36"/>
                </a:solidFill>
                <a:latin typeface="Aptos"/>
              </a:rPr>
              <a:t>RAIL DECISION MATRIX</a:t>
            </a:r>
          </a:p>
        </p:txBody>
      </p:sp>
      <p:sp>
        <p:nvSpPr>
          <p:cNvPr id="1048844" name="Rounded Rectangle 7"/>
          <p:cNvSpPr/>
          <p:nvPr/>
        </p:nvSpPr>
        <p:spPr>
          <a:xfrm>
            <a:off x="914400" y="1965960"/>
            <a:ext cx="868680" cy="310896"/>
          </a:xfrm>
          <a:prstGeom prst="roundRect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45" name="TextBox 8"/>
          <p:cNvSpPr txBox="1"/>
          <p:nvPr/>
        </p:nvSpPr>
        <p:spPr>
          <a:xfrm>
            <a:off x="914400" y="1984248"/>
            <a:ext cx="86868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ACH</a:t>
            </a:r>
          </a:p>
        </p:txBody>
      </p:sp>
      <p:sp>
        <p:nvSpPr>
          <p:cNvPr id="1048846" name="TextBox 9"/>
          <p:cNvSpPr txBox="1"/>
          <p:nvPr/>
        </p:nvSpPr>
        <p:spPr>
          <a:xfrm>
            <a:off x="1965960" y="1984248"/>
            <a:ext cx="34747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80" i="0">
                <a:solidFill>
                  <a:srgbClr val="212A38"/>
                </a:solidFill>
                <a:latin typeface="Aptos"/>
              </a:rPr>
              <a:t>Recoverable if deadline open</a:t>
            </a:r>
          </a:p>
        </p:txBody>
      </p:sp>
      <p:sp>
        <p:nvSpPr>
          <p:cNvPr id="1048847" name="TextBox 10"/>
          <p:cNvSpPr txBox="1"/>
          <p:nvPr/>
        </p:nvSpPr>
        <p:spPr>
          <a:xfrm>
            <a:off x="1965960" y="2276856"/>
            <a:ext cx="347472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880" i="0">
                <a:solidFill>
                  <a:srgbClr val="2F844C"/>
                </a:solidFill>
                <a:latin typeface="Aptos"/>
              </a:rPr>
              <a:t>Simulated request</a:t>
            </a:r>
          </a:p>
        </p:txBody>
      </p:sp>
      <p:sp>
        <p:nvSpPr>
          <p:cNvPr id="1048848" name="Rounded Rectangle 11"/>
          <p:cNvSpPr/>
          <p:nvPr/>
        </p:nvSpPr>
        <p:spPr>
          <a:xfrm>
            <a:off x="914400" y="2679191"/>
            <a:ext cx="868680" cy="310896"/>
          </a:xfrm>
          <a:prstGeom prst="roundRect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49" name="TextBox 12"/>
          <p:cNvSpPr txBox="1"/>
          <p:nvPr/>
        </p:nvSpPr>
        <p:spPr>
          <a:xfrm>
            <a:off x="914400" y="2697479"/>
            <a:ext cx="86868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WIRE</a:t>
            </a:r>
          </a:p>
        </p:txBody>
      </p:sp>
      <p:sp>
        <p:nvSpPr>
          <p:cNvPr id="1048850" name="TextBox 13"/>
          <p:cNvSpPr txBox="1"/>
          <p:nvPr/>
        </p:nvSpPr>
        <p:spPr>
          <a:xfrm>
            <a:off x="1965960" y="2697479"/>
            <a:ext cx="34747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80" i="0">
                <a:solidFill>
                  <a:srgbClr val="212A38"/>
                </a:solidFill>
                <a:latin typeface="Aptos"/>
              </a:rPr>
              <a:t>Recoverable if deadline open</a:t>
            </a:r>
          </a:p>
        </p:txBody>
      </p:sp>
      <p:sp>
        <p:nvSpPr>
          <p:cNvPr id="1048851" name="TextBox 14"/>
          <p:cNvSpPr txBox="1"/>
          <p:nvPr/>
        </p:nvSpPr>
        <p:spPr>
          <a:xfrm>
            <a:off x="1965960" y="2990087"/>
            <a:ext cx="347472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880" i="0">
                <a:solidFill>
                  <a:srgbClr val="2F844C"/>
                </a:solidFill>
                <a:latin typeface="Aptos"/>
              </a:rPr>
              <a:t>Simulated request</a:t>
            </a:r>
          </a:p>
        </p:txBody>
      </p:sp>
      <p:sp>
        <p:nvSpPr>
          <p:cNvPr id="1048852" name="Rounded Rectangle 15"/>
          <p:cNvSpPr/>
          <p:nvPr/>
        </p:nvSpPr>
        <p:spPr>
          <a:xfrm>
            <a:off x="914400" y="3392424"/>
            <a:ext cx="868680" cy="310896"/>
          </a:xfrm>
          <a:prstGeom prst="round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3" name="TextBox 16"/>
          <p:cNvSpPr txBox="1"/>
          <p:nvPr/>
        </p:nvSpPr>
        <p:spPr>
          <a:xfrm>
            <a:off x="914400" y="3410712"/>
            <a:ext cx="86868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RTP</a:t>
            </a:r>
          </a:p>
        </p:txBody>
      </p:sp>
      <p:sp>
        <p:nvSpPr>
          <p:cNvPr id="1048854" name="TextBox 17"/>
          <p:cNvSpPr txBox="1"/>
          <p:nvPr/>
        </p:nvSpPr>
        <p:spPr>
          <a:xfrm>
            <a:off x="1965960" y="3410712"/>
            <a:ext cx="34747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80" i="0">
                <a:solidFill>
                  <a:srgbClr val="212A38"/>
                </a:solidFill>
                <a:latin typeface="Aptos"/>
              </a:rPr>
              <a:t>Final instant rail</a:t>
            </a:r>
          </a:p>
        </p:txBody>
      </p:sp>
      <p:sp>
        <p:nvSpPr>
          <p:cNvPr id="1048855" name="TextBox 18"/>
          <p:cNvSpPr txBox="1"/>
          <p:nvPr/>
        </p:nvSpPr>
        <p:spPr>
          <a:xfrm>
            <a:off x="1965960" y="3703320"/>
            <a:ext cx="347472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880" i="0">
                <a:solidFill>
                  <a:srgbClr val="BE3737"/>
                </a:solidFill>
                <a:latin typeface="Aptos"/>
              </a:rPr>
              <a:t>NO_REMEDY</a:t>
            </a:r>
          </a:p>
        </p:txBody>
      </p:sp>
      <p:sp>
        <p:nvSpPr>
          <p:cNvPr id="1048856" name="Rounded Rectangle 19"/>
          <p:cNvSpPr/>
          <p:nvPr/>
        </p:nvSpPr>
        <p:spPr>
          <a:xfrm>
            <a:off x="914400" y="4105656"/>
            <a:ext cx="868680" cy="310896"/>
          </a:xfrm>
          <a:prstGeom prst="round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7" name="TextBox 20"/>
          <p:cNvSpPr txBox="1"/>
          <p:nvPr/>
        </p:nvSpPr>
        <p:spPr>
          <a:xfrm>
            <a:off x="914400" y="4123944"/>
            <a:ext cx="86868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FEDNOW</a:t>
            </a:r>
          </a:p>
        </p:txBody>
      </p:sp>
      <p:sp>
        <p:nvSpPr>
          <p:cNvPr id="1048858" name="TextBox 21"/>
          <p:cNvSpPr txBox="1"/>
          <p:nvPr/>
        </p:nvSpPr>
        <p:spPr>
          <a:xfrm>
            <a:off x="1965960" y="4123944"/>
            <a:ext cx="34747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80" i="0">
                <a:solidFill>
                  <a:srgbClr val="212A38"/>
                </a:solidFill>
                <a:latin typeface="Aptos"/>
              </a:rPr>
              <a:t>Final instant rail</a:t>
            </a:r>
          </a:p>
        </p:txBody>
      </p:sp>
      <p:sp>
        <p:nvSpPr>
          <p:cNvPr id="1048859" name="TextBox 22"/>
          <p:cNvSpPr txBox="1"/>
          <p:nvPr/>
        </p:nvSpPr>
        <p:spPr>
          <a:xfrm>
            <a:off x="1965960" y="4416552"/>
            <a:ext cx="347472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880" i="0">
                <a:solidFill>
                  <a:srgbClr val="BE3737"/>
                </a:solidFill>
                <a:latin typeface="Aptos"/>
              </a:rPr>
              <a:t>NO_REMEDY</a:t>
            </a:r>
          </a:p>
        </p:txBody>
      </p:sp>
      <p:sp>
        <p:nvSpPr>
          <p:cNvPr id="1048860" name="Rounded Rectangle 23"/>
          <p:cNvSpPr/>
          <p:nvPr/>
        </p:nvSpPr>
        <p:spPr>
          <a:xfrm>
            <a:off x="6126480" y="1234440"/>
            <a:ext cx="5394960" cy="4480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1" name="TextBox 24"/>
          <p:cNvSpPr txBox="1"/>
          <p:nvPr/>
        </p:nvSpPr>
        <p:spPr>
          <a:xfrm>
            <a:off x="6355080" y="1508760"/>
            <a:ext cx="493776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300" i="0">
                <a:solidFill>
                  <a:srgbClr val="0F1F36"/>
                </a:solidFill>
                <a:latin typeface="Aptos"/>
              </a:rPr>
              <a:t>SYNTHETIC SLA CLOCK</a:t>
            </a:r>
          </a:p>
        </p:txBody>
      </p:sp>
      <p:cxnSp>
        <p:nvCxnSpPr>
          <p:cNvPr id="3145745" name="Connector 25"/>
          <p:cNvCxnSpPr>
            <a:cxnSpLocks/>
          </p:cNvCxnSpPr>
          <p:nvPr/>
        </p:nvCxnSpPr>
        <p:spPr>
          <a:xfrm>
            <a:off x="6629400" y="2971800"/>
            <a:ext cx="4297680" cy="0"/>
          </a:xfrm>
          <a:prstGeom prst="line"/>
          <a:ln w="6350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62" name="Oval 26"/>
          <p:cNvSpPr/>
          <p:nvPr/>
        </p:nvSpPr>
        <p:spPr>
          <a:xfrm>
            <a:off x="6812280" y="2761488"/>
            <a:ext cx="411480" cy="41148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3" name="TextBox 27"/>
          <p:cNvSpPr txBox="1"/>
          <p:nvPr/>
        </p:nvSpPr>
        <p:spPr>
          <a:xfrm>
            <a:off x="6400800" y="2267712"/>
            <a:ext cx="822960" cy="2286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265CB4"/>
                </a:solidFill>
                <a:latin typeface="Aptos"/>
              </a:rPr>
              <a:t>DAY 0</a:t>
            </a:r>
          </a:p>
        </p:txBody>
      </p:sp>
      <p:sp>
        <p:nvSpPr>
          <p:cNvPr id="1048864" name="Oval 28"/>
          <p:cNvSpPr/>
          <p:nvPr/>
        </p:nvSpPr>
        <p:spPr>
          <a:xfrm>
            <a:off x="8366760" y="2761488"/>
            <a:ext cx="411480" cy="411480"/>
          </a:xfrm>
          <a:prstGeom prst="ellipse"/>
          <a:solidFill>
            <a:srgbClr val="D2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5" name="TextBox 29"/>
          <p:cNvSpPr txBox="1"/>
          <p:nvPr/>
        </p:nvSpPr>
        <p:spPr>
          <a:xfrm>
            <a:off x="7955280" y="2267712"/>
            <a:ext cx="822960" cy="2286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D28918"/>
                </a:solidFill>
                <a:latin typeface="Aptos"/>
              </a:rPr>
              <a:t>DAY 30</a:t>
            </a:r>
          </a:p>
        </p:txBody>
      </p:sp>
      <p:sp>
        <p:nvSpPr>
          <p:cNvPr id="1048866" name="Oval 30"/>
          <p:cNvSpPr/>
          <p:nvPr/>
        </p:nvSpPr>
        <p:spPr>
          <a:xfrm>
            <a:off x="9875520" y="2761488"/>
            <a:ext cx="411480" cy="411480"/>
          </a:xfrm>
          <a:prstGeom prst="ellipse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7" name="TextBox 31"/>
          <p:cNvSpPr txBox="1"/>
          <p:nvPr/>
        </p:nvSpPr>
        <p:spPr>
          <a:xfrm>
            <a:off x="9464040" y="2267712"/>
            <a:ext cx="822960" cy="2286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BE3737"/>
                </a:solidFill>
                <a:latin typeface="Aptos"/>
              </a:rPr>
              <a:t>DAY 60</a:t>
            </a:r>
          </a:p>
        </p:txBody>
      </p:sp>
      <p:sp>
        <p:nvSpPr>
          <p:cNvPr id="1048868" name="Oval 32"/>
          <p:cNvSpPr/>
          <p:nvPr/>
        </p:nvSpPr>
        <p:spPr>
          <a:xfrm>
            <a:off x="10972800" y="2761488"/>
            <a:ext cx="411480" cy="411480"/>
          </a:xfrm>
          <a:prstGeom prst="ellipse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9" name="TextBox 33"/>
          <p:cNvSpPr txBox="1"/>
          <p:nvPr/>
        </p:nvSpPr>
        <p:spPr>
          <a:xfrm>
            <a:off x="10561320" y="2267712"/>
            <a:ext cx="822960" cy="2286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0F1F36"/>
                </a:solidFill>
                <a:latin typeface="Aptos"/>
              </a:rPr>
              <a:t>DAY 61+</a:t>
            </a:r>
          </a:p>
        </p:txBody>
      </p:sp>
      <p:sp>
        <p:nvSpPr>
          <p:cNvPr id="1048870" name="TextBox 34"/>
          <p:cNvSpPr txBox="1"/>
          <p:nvPr/>
        </p:nvSpPr>
        <p:spPr>
          <a:xfrm>
            <a:off x="6400800" y="3474720"/>
            <a:ext cx="4754880" cy="38404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50" i="0">
                <a:solidFill>
                  <a:srgbClr val="212A38"/>
                </a:solidFill>
                <a:latin typeface="Aptos"/>
              </a:rPr>
              <a:t>Erroneous → 30-day synthetic deadline</a:t>
            </a:r>
          </a:p>
        </p:txBody>
      </p:sp>
      <p:sp>
        <p:nvSpPr>
          <p:cNvPr id="1048871" name="TextBox 35"/>
          <p:cNvSpPr txBox="1"/>
          <p:nvPr/>
        </p:nvSpPr>
        <p:spPr>
          <a:xfrm>
            <a:off x="6400800" y="3977639"/>
            <a:ext cx="4754880" cy="38404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50" i="0">
                <a:solidFill>
                  <a:srgbClr val="212A38"/>
                </a:solidFill>
                <a:latin typeface="Aptos"/>
              </a:rPr>
              <a:t>Unauthorised / scam → 60-day synthetic deadline</a:t>
            </a:r>
          </a:p>
        </p:txBody>
      </p:sp>
      <p:sp>
        <p:nvSpPr>
          <p:cNvPr id="1048872" name="TextBox 36"/>
          <p:cNvSpPr txBox="1"/>
          <p:nvPr/>
        </p:nvSpPr>
        <p:spPr>
          <a:xfrm>
            <a:off x="6400800" y="4480560"/>
            <a:ext cx="4754880" cy="38404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50" i="0">
                <a:solidFill>
                  <a:srgbClr val="212A38"/>
                </a:solidFill>
                <a:latin typeface="Aptos"/>
              </a:rPr>
              <a:t>Expired → manual review; final rail → no-remedy</a:t>
            </a:r>
          </a:p>
        </p:txBody>
      </p:sp>
      <p:sp>
        <p:nvSpPr>
          <p:cNvPr id="1048873" name="Rounded Rectangle 37"/>
          <p:cNvSpPr/>
          <p:nvPr/>
        </p:nvSpPr>
        <p:spPr>
          <a:xfrm>
            <a:off x="1005840" y="5897880"/>
            <a:ext cx="9966960" cy="310896"/>
          </a:xfrm>
          <a:prstGeom prst="round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4" name="TextBox 38"/>
          <p:cNvSpPr txBox="1"/>
          <p:nvPr/>
        </p:nvSpPr>
        <p:spPr>
          <a:xfrm>
            <a:off x="1005840" y="5916168"/>
            <a:ext cx="996696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No late automatic request • No guaranteed recovery • Human approval</a:t>
            </a:r>
          </a:p>
        </p:txBody>
      </p:sp>
      <p:sp>
        <p:nvSpPr>
          <p:cNvPr id="1048875" name="TextBox 39"/>
          <p:cNvSpPr txBox="1"/>
          <p:nvPr/>
        </p:nvSpPr>
        <p:spPr>
          <a:xfrm>
            <a:off x="502920" y="6547104"/>
            <a:ext cx="996696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PaymentException GitHub repository • synthetic/offline demo</a:t>
            </a:r>
          </a:p>
        </p:txBody>
      </p:sp>
      <p:sp>
        <p:nvSpPr>
          <p:cNvPr id="1048876" name="TextBox 40"/>
          <p:cNvSpPr txBox="1"/>
          <p:nvPr/>
        </p:nvSpPr>
        <p:spPr>
          <a:xfrm>
            <a:off x="11201400" y="6547104"/>
            <a:ext cx="45720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7</a:t>
            </a:r>
          </a:p>
        </p:txBody>
      </p:sp>
      <p:sp>
        <p:nvSpPr>
          <p:cNvPr id="1048877" name="Rectangle 41"/>
          <p:cNvSpPr/>
          <p:nvPr/>
        </p:nvSpPr>
        <p:spPr>
          <a:xfrm>
            <a:off x="10378440" y="256032"/>
            <a:ext cx="1143000" cy="292608"/>
          </a:xfrm>
          <a:prstGeom prst="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sz="850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878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9" name="TextBox 2"/>
          <p:cNvSpPr txBox="1"/>
          <p:nvPr/>
        </p:nvSpPr>
        <p:spPr>
          <a:xfrm>
            <a:off x="502920" y="201168"/>
            <a:ext cx="411480" cy="25603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08</a:t>
            </a:r>
          </a:p>
        </p:txBody>
      </p:sp>
      <p:sp>
        <p:nvSpPr>
          <p:cNvPr id="1048880" name="TextBox 3"/>
          <p:cNvSpPr txBox="1"/>
          <p:nvPr/>
        </p:nvSpPr>
        <p:spPr>
          <a:xfrm>
            <a:off x="941832" y="128016"/>
            <a:ext cx="10744200" cy="4572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Synthetic Scenario Analytics</a:t>
            </a:r>
          </a:p>
        </p:txBody>
      </p:sp>
      <p:sp>
        <p:nvSpPr>
          <p:cNvPr id="1048881" name="TextBox 4"/>
          <p:cNvSpPr txBox="1"/>
          <p:nvPr/>
        </p:nvSpPr>
        <p:spPr>
          <a:xfrm>
            <a:off x="941832" y="594360"/>
            <a:ext cx="106070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Coverage and evaluation signals from the documented demo scenarios</a:t>
            </a:r>
          </a:p>
        </p:txBody>
      </p:sp>
      <p:sp>
        <p:nvSpPr>
          <p:cNvPr id="1048882" name="Rounded Rectangle 5"/>
          <p:cNvSpPr/>
          <p:nvPr/>
        </p:nvSpPr>
        <p:spPr>
          <a:xfrm>
            <a:off x="594360" y="1234440"/>
            <a:ext cx="3657600" cy="361188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3" name="TextBox 6"/>
          <p:cNvSpPr txBox="1"/>
          <p:nvPr/>
        </p:nvSpPr>
        <p:spPr>
          <a:xfrm>
            <a:off x="777240" y="1380744"/>
            <a:ext cx="32918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0F1F36"/>
                </a:solidFill>
                <a:latin typeface="Aptos"/>
              </a:rPr>
              <a:t>Scenario coverage by rail</a:t>
            </a:r>
          </a:p>
        </p:txBody>
      </p:sp>
      <p:sp>
        <p:nvSpPr>
          <p:cNvPr id="1048884" name="Rounded Rectangle 7"/>
          <p:cNvSpPr/>
          <p:nvPr/>
        </p:nvSpPr>
        <p:spPr>
          <a:xfrm>
            <a:off x="1463040" y="1828800"/>
            <a:ext cx="489204" cy="27432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5" name="TextBox 8"/>
          <p:cNvSpPr txBox="1"/>
          <p:nvPr/>
        </p:nvSpPr>
        <p:spPr>
          <a:xfrm>
            <a:off x="1463040" y="1581912"/>
            <a:ext cx="489204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9</a:t>
            </a:r>
          </a:p>
        </p:txBody>
      </p:sp>
      <p:sp>
        <p:nvSpPr>
          <p:cNvPr id="1048886" name="TextBox 9"/>
          <p:cNvSpPr txBox="1"/>
          <p:nvPr/>
        </p:nvSpPr>
        <p:spPr>
          <a:xfrm>
            <a:off x="1463040" y="4617720"/>
            <a:ext cx="489204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ACH</a:t>
            </a:r>
          </a:p>
        </p:txBody>
      </p:sp>
      <p:sp>
        <p:nvSpPr>
          <p:cNvPr id="1048887" name="Rounded Rectangle 10"/>
          <p:cNvSpPr/>
          <p:nvPr/>
        </p:nvSpPr>
        <p:spPr>
          <a:xfrm>
            <a:off x="2153412" y="4267200"/>
            <a:ext cx="489204" cy="3048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8" name="TextBox 11"/>
          <p:cNvSpPr txBox="1"/>
          <p:nvPr/>
        </p:nvSpPr>
        <p:spPr>
          <a:xfrm>
            <a:off x="2153412" y="4020312"/>
            <a:ext cx="489204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1</a:t>
            </a:r>
          </a:p>
        </p:txBody>
      </p:sp>
      <p:sp>
        <p:nvSpPr>
          <p:cNvPr id="1048889" name="TextBox 12"/>
          <p:cNvSpPr txBox="1"/>
          <p:nvPr/>
        </p:nvSpPr>
        <p:spPr>
          <a:xfrm>
            <a:off x="2153412" y="4617720"/>
            <a:ext cx="489204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WIRE</a:t>
            </a:r>
          </a:p>
        </p:txBody>
      </p:sp>
      <p:sp>
        <p:nvSpPr>
          <p:cNvPr id="1048890" name="Rounded Rectangle 13"/>
          <p:cNvSpPr/>
          <p:nvPr/>
        </p:nvSpPr>
        <p:spPr>
          <a:xfrm>
            <a:off x="2843784" y="4267200"/>
            <a:ext cx="489204" cy="3048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1" name="TextBox 14"/>
          <p:cNvSpPr txBox="1"/>
          <p:nvPr/>
        </p:nvSpPr>
        <p:spPr>
          <a:xfrm>
            <a:off x="2843784" y="4020312"/>
            <a:ext cx="489204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1</a:t>
            </a:r>
          </a:p>
        </p:txBody>
      </p:sp>
      <p:sp>
        <p:nvSpPr>
          <p:cNvPr id="1048892" name="TextBox 15"/>
          <p:cNvSpPr txBox="1"/>
          <p:nvPr/>
        </p:nvSpPr>
        <p:spPr>
          <a:xfrm>
            <a:off x="2843784" y="4617720"/>
            <a:ext cx="489204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RTP</a:t>
            </a:r>
          </a:p>
        </p:txBody>
      </p:sp>
      <p:sp>
        <p:nvSpPr>
          <p:cNvPr id="1048893" name="Rounded Rectangle 16"/>
          <p:cNvSpPr/>
          <p:nvPr/>
        </p:nvSpPr>
        <p:spPr>
          <a:xfrm>
            <a:off x="3534156" y="4267200"/>
            <a:ext cx="489204" cy="3048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4" name="TextBox 17"/>
          <p:cNvSpPr txBox="1"/>
          <p:nvPr/>
        </p:nvSpPr>
        <p:spPr>
          <a:xfrm>
            <a:off x="3534156" y="4020312"/>
            <a:ext cx="489204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1</a:t>
            </a:r>
          </a:p>
        </p:txBody>
      </p:sp>
      <p:sp>
        <p:nvSpPr>
          <p:cNvPr id="1048895" name="TextBox 18"/>
          <p:cNvSpPr txBox="1"/>
          <p:nvPr/>
        </p:nvSpPr>
        <p:spPr>
          <a:xfrm>
            <a:off x="3534156" y="4617720"/>
            <a:ext cx="489204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FEDNOW</a:t>
            </a:r>
          </a:p>
        </p:txBody>
      </p:sp>
      <p:cxnSp>
        <p:nvCxnSpPr>
          <p:cNvPr id="3145746" name="Connector 19"/>
          <p:cNvCxnSpPr>
            <a:cxnSpLocks/>
          </p:cNvCxnSpPr>
          <p:nvPr/>
        </p:nvCxnSpPr>
        <p:spPr>
          <a:xfrm>
            <a:off x="1463040" y="4572000"/>
            <a:ext cx="256032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7" name="Connector 20"/>
          <p:cNvCxnSpPr>
            <a:cxnSpLocks/>
          </p:cNvCxnSpPr>
          <p:nvPr/>
        </p:nvCxnSpPr>
        <p:spPr>
          <a:xfrm>
            <a:off x="1463040" y="3200400"/>
            <a:ext cx="256032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8" name="Connector 21"/>
          <p:cNvCxnSpPr>
            <a:cxnSpLocks/>
          </p:cNvCxnSpPr>
          <p:nvPr/>
        </p:nvCxnSpPr>
        <p:spPr>
          <a:xfrm>
            <a:off x="1463040" y="1828800"/>
            <a:ext cx="256032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96" name="Rounded Rectangle 22"/>
          <p:cNvSpPr/>
          <p:nvPr/>
        </p:nvSpPr>
        <p:spPr>
          <a:xfrm>
            <a:off x="4480560" y="1234440"/>
            <a:ext cx="3657600" cy="361188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7" name="TextBox 23"/>
          <p:cNvSpPr txBox="1"/>
          <p:nvPr/>
        </p:nvSpPr>
        <p:spPr>
          <a:xfrm>
            <a:off x="4663440" y="1380744"/>
            <a:ext cx="32918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0F1F36"/>
                </a:solidFill>
                <a:latin typeface="Aptos"/>
              </a:rPr>
              <a:t>Scenario coverage by category</a:t>
            </a:r>
          </a:p>
        </p:txBody>
      </p:sp>
      <p:sp>
        <p:nvSpPr>
          <p:cNvPr id="1048898" name="Rounded Rectangle 24"/>
          <p:cNvSpPr/>
          <p:nvPr/>
        </p:nvSpPr>
        <p:spPr>
          <a:xfrm>
            <a:off x="5349240" y="1828800"/>
            <a:ext cx="489203" cy="27432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9" name="TextBox 25"/>
          <p:cNvSpPr txBox="1"/>
          <p:nvPr/>
        </p:nvSpPr>
        <p:spPr>
          <a:xfrm>
            <a:off x="5349240" y="1581912"/>
            <a:ext cx="489203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3</a:t>
            </a:r>
          </a:p>
        </p:txBody>
      </p:sp>
      <p:sp>
        <p:nvSpPr>
          <p:cNvPr id="1048900" name="TextBox 26"/>
          <p:cNvSpPr txBox="1"/>
          <p:nvPr/>
        </p:nvSpPr>
        <p:spPr>
          <a:xfrm>
            <a:off x="5349240" y="4617720"/>
            <a:ext cx="489203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Unauth.</a:t>
            </a:r>
          </a:p>
        </p:txBody>
      </p:sp>
      <p:sp>
        <p:nvSpPr>
          <p:cNvPr id="1048901" name="Rounded Rectangle 27"/>
          <p:cNvSpPr/>
          <p:nvPr/>
        </p:nvSpPr>
        <p:spPr>
          <a:xfrm>
            <a:off x="6039612" y="1828800"/>
            <a:ext cx="489203" cy="27432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2" name="TextBox 28"/>
          <p:cNvSpPr txBox="1"/>
          <p:nvPr/>
        </p:nvSpPr>
        <p:spPr>
          <a:xfrm>
            <a:off x="6039612" y="1581912"/>
            <a:ext cx="489203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3</a:t>
            </a:r>
          </a:p>
        </p:txBody>
      </p:sp>
      <p:sp>
        <p:nvSpPr>
          <p:cNvPr id="1048903" name="TextBox 29"/>
          <p:cNvSpPr txBox="1"/>
          <p:nvPr/>
        </p:nvSpPr>
        <p:spPr>
          <a:xfrm>
            <a:off x="6039612" y="4617720"/>
            <a:ext cx="489203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Erroneous</a:t>
            </a:r>
          </a:p>
        </p:txBody>
      </p:sp>
      <p:sp>
        <p:nvSpPr>
          <p:cNvPr id="1048904" name="Rounded Rectangle 30"/>
          <p:cNvSpPr/>
          <p:nvPr/>
        </p:nvSpPr>
        <p:spPr>
          <a:xfrm>
            <a:off x="6729984" y="1828800"/>
            <a:ext cx="489203" cy="27432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5" name="TextBox 31"/>
          <p:cNvSpPr txBox="1"/>
          <p:nvPr/>
        </p:nvSpPr>
        <p:spPr>
          <a:xfrm>
            <a:off x="6729984" y="1581912"/>
            <a:ext cx="489203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3</a:t>
            </a:r>
          </a:p>
        </p:txBody>
      </p:sp>
      <p:sp>
        <p:nvSpPr>
          <p:cNvPr id="1048906" name="TextBox 32"/>
          <p:cNvSpPr txBox="1"/>
          <p:nvPr/>
        </p:nvSpPr>
        <p:spPr>
          <a:xfrm>
            <a:off x="6729984" y="4617720"/>
            <a:ext cx="489203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Scam</a:t>
            </a:r>
          </a:p>
        </p:txBody>
      </p:sp>
      <p:sp>
        <p:nvSpPr>
          <p:cNvPr id="1048907" name="Rounded Rectangle 33"/>
          <p:cNvSpPr/>
          <p:nvPr/>
        </p:nvSpPr>
        <p:spPr>
          <a:xfrm>
            <a:off x="7420356" y="1828800"/>
            <a:ext cx="489203" cy="27432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8" name="TextBox 34"/>
          <p:cNvSpPr txBox="1"/>
          <p:nvPr/>
        </p:nvSpPr>
        <p:spPr>
          <a:xfrm>
            <a:off x="7420356" y="1581912"/>
            <a:ext cx="489203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3</a:t>
            </a:r>
          </a:p>
        </p:txBody>
      </p:sp>
      <p:sp>
        <p:nvSpPr>
          <p:cNvPr id="1048909" name="TextBox 35"/>
          <p:cNvSpPr txBox="1"/>
          <p:nvPr/>
        </p:nvSpPr>
        <p:spPr>
          <a:xfrm>
            <a:off x="7420356" y="4617720"/>
            <a:ext cx="489203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Unclassified</a:t>
            </a:r>
          </a:p>
        </p:txBody>
      </p:sp>
      <p:cxnSp>
        <p:nvCxnSpPr>
          <p:cNvPr id="3145749" name="Connector 36"/>
          <p:cNvCxnSpPr>
            <a:cxnSpLocks/>
          </p:cNvCxnSpPr>
          <p:nvPr/>
        </p:nvCxnSpPr>
        <p:spPr>
          <a:xfrm>
            <a:off x="5349240" y="4572000"/>
            <a:ext cx="256032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0" name="Connector 37"/>
          <p:cNvCxnSpPr>
            <a:cxnSpLocks/>
          </p:cNvCxnSpPr>
          <p:nvPr/>
        </p:nvCxnSpPr>
        <p:spPr>
          <a:xfrm>
            <a:off x="5349240" y="3200400"/>
            <a:ext cx="256032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1" name="Connector 38"/>
          <p:cNvCxnSpPr>
            <a:cxnSpLocks/>
          </p:cNvCxnSpPr>
          <p:nvPr/>
        </p:nvCxnSpPr>
        <p:spPr>
          <a:xfrm>
            <a:off x="5349240" y="1828800"/>
            <a:ext cx="256032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10" name="Rounded Rectangle 39"/>
          <p:cNvSpPr/>
          <p:nvPr/>
        </p:nvSpPr>
        <p:spPr>
          <a:xfrm>
            <a:off x="8366760" y="1234440"/>
            <a:ext cx="3246120" cy="361188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11" name="TextBox 40"/>
          <p:cNvSpPr txBox="1"/>
          <p:nvPr/>
        </p:nvSpPr>
        <p:spPr>
          <a:xfrm>
            <a:off x="8549640" y="1380744"/>
            <a:ext cx="288036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0F1F36"/>
                </a:solidFill>
                <a:latin typeface="Aptos"/>
              </a:rPr>
              <a:t>Evaluator sample: default 3 claims</a:t>
            </a:r>
          </a:p>
        </p:txBody>
      </p:sp>
      <p:sp>
        <p:nvSpPr>
          <p:cNvPr id="1048912" name="Rounded Rectangle 41"/>
          <p:cNvSpPr/>
          <p:nvPr/>
        </p:nvSpPr>
        <p:spPr>
          <a:xfrm>
            <a:off x="9235440" y="1828800"/>
            <a:ext cx="973835" cy="27432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13" name="TextBox 42"/>
          <p:cNvSpPr txBox="1"/>
          <p:nvPr/>
        </p:nvSpPr>
        <p:spPr>
          <a:xfrm>
            <a:off x="9235440" y="1581912"/>
            <a:ext cx="973835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2</a:t>
            </a:r>
          </a:p>
        </p:txBody>
      </p:sp>
      <p:sp>
        <p:nvSpPr>
          <p:cNvPr id="1048914" name="TextBox 43"/>
          <p:cNvSpPr txBox="1"/>
          <p:nvPr/>
        </p:nvSpPr>
        <p:spPr>
          <a:xfrm>
            <a:off x="9235440" y="4617720"/>
            <a:ext cx="973835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Matched</a:t>
            </a:r>
          </a:p>
        </p:txBody>
      </p:sp>
      <p:sp>
        <p:nvSpPr>
          <p:cNvPr id="1048915" name="Rounded Rectangle 44"/>
          <p:cNvSpPr/>
          <p:nvPr/>
        </p:nvSpPr>
        <p:spPr>
          <a:xfrm>
            <a:off x="10410444" y="3200400"/>
            <a:ext cx="973835" cy="1371600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16" name="TextBox 45"/>
          <p:cNvSpPr txBox="1"/>
          <p:nvPr/>
        </p:nvSpPr>
        <p:spPr>
          <a:xfrm>
            <a:off x="10410444" y="2953512"/>
            <a:ext cx="973835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50" i="0">
                <a:solidFill>
                  <a:srgbClr val="265CB4"/>
                </a:solidFill>
                <a:latin typeface="Aptos"/>
              </a:rPr>
              <a:t>1</a:t>
            </a:r>
          </a:p>
        </p:txBody>
      </p:sp>
      <p:sp>
        <p:nvSpPr>
          <p:cNvPr id="1048917" name="TextBox 46"/>
          <p:cNvSpPr txBox="1"/>
          <p:nvPr/>
        </p:nvSpPr>
        <p:spPr>
          <a:xfrm>
            <a:off x="10410444" y="4617720"/>
            <a:ext cx="973835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19" i="0">
                <a:solidFill>
                  <a:srgbClr val="657285"/>
                </a:solidFill>
                <a:latin typeface="Aptos"/>
              </a:rPr>
              <a:t>Clarified</a:t>
            </a:r>
          </a:p>
        </p:txBody>
      </p:sp>
      <p:cxnSp>
        <p:nvCxnSpPr>
          <p:cNvPr id="3145752" name="Connector 47"/>
          <p:cNvCxnSpPr>
            <a:cxnSpLocks/>
          </p:cNvCxnSpPr>
          <p:nvPr/>
        </p:nvCxnSpPr>
        <p:spPr>
          <a:xfrm>
            <a:off x="9235440" y="4572000"/>
            <a:ext cx="214884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3" name="Connector 48"/>
          <p:cNvCxnSpPr>
            <a:cxnSpLocks/>
          </p:cNvCxnSpPr>
          <p:nvPr/>
        </p:nvCxnSpPr>
        <p:spPr>
          <a:xfrm>
            <a:off x="9235440" y="3200400"/>
            <a:ext cx="214884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4" name="Connector 49"/>
          <p:cNvCxnSpPr>
            <a:cxnSpLocks/>
          </p:cNvCxnSpPr>
          <p:nvPr/>
        </p:nvCxnSpPr>
        <p:spPr>
          <a:xfrm>
            <a:off x="9235440" y="1828800"/>
            <a:ext cx="2148840" cy="0"/>
          </a:xfrm>
          <a:prstGeom prst="line"/>
          <a:ln w="12700">
            <a:solidFill>
              <a:srgbClr val="E7EB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18" name="TextBox 50"/>
          <p:cNvSpPr txBox="1"/>
          <p:nvPr/>
        </p:nvSpPr>
        <p:spPr>
          <a:xfrm>
            <a:off x="822960" y="5166360"/>
            <a:ext cx="105156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100" i="0">
                <a:solidFill>
                  <a:srgbClr val="657285"/>
                </a:solidFill>
                <a:latin typeface="Aptos"/>
              </a:rPr>
              <a:t>Interpretation</a:t>
            </a:r>
          </a:p>
        </p:txBody>
      </p:sp>
      <p:sp>
        <p:nvSpPr>
          <p:cNvPr id="1048919" name="Oval 51"/>
          <p:cNvSpPr/>
          <p:nvPr/>
        </p:nvSpPr>
        <p:spPr>
          <a:xfrm>
            <a:off x="822960" y="5577840"/>
            <a:ext cx="68580" cy="6858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0" name="TextBox 52"/>
          <p:cNvSpPr txBox="1"/>
          <p:nvPr/>
        </p:nvSpPr>
        <p:spPr>
          <a:xfrm>
            <a:off x="978408" y="5486400"/>
            <a:ext cx="10085832" cy="31089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50" i="0">
                <a:solidFill>
                  <a:srgbClr val="212A38"/>
                </a:solidFill>
                <a:latin typeface="Aptos"/>
              </a:rPr>
              <a:t>The 12-scenario matrix contains 9 ACH, 1 WIRE, 1 RTP and 1 FEDNOW scenarios.</a:t>
            </a:r>
          </a:p>
        </p:txBody>
      </p:sp>
      <p:sp>
        <p:nvSpPr>
          <p:cNvPr id="1048921" name="Oval 53"/>
          <p:cNvSpPr/>
          <p:nvPr/>
        </p:nvSpPr>
        <p:spPr>
          <a:xfrm>
            <a:off x="822960" y="5925312"/>
            <a:ext cx="68580" cy="6858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2" name="TextBox 54"/>
          <p:cNvSpPr txBox="1"/>
          <p:nvPr/>
        </p:nvSpPr>
        <p:spPr>
          <a:xfrm>
            <a:off x="978408" y="5833872"/>
            <a:ext cx="10085832" cy="31089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50" i="0">
                <a:solidFill>
                  <a:srgbClr val="212A38"/>
                </a:solidFill>
                <a:latin typeface="Aptos"/>
              </a:rPr>
              <a:t>The repository’s default evaluator processes 3 synthetic claims: 2 matched and 1 clarification-required (66.7% / 33.3%).</a:t>
            </a:r>
          </a:p>
        </p:txBody>
      </p:sp>
      <p:sp>
        <p:nvSpPr>
          <p:cNvPr id="1048923" name="TextBox 55"/>
          <p:cNvSpPr txBox="1"/>
          <p:nvPr/>
        </p:nvSpPr>
        <p:spPr>
          <a:xfrm>
            <a:off x="8458200" y="5806440"/>
            <a:ext cx="3017520" cy="36576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00" i="0">
                <a:solidFill>
                  <a:srgbClr val="BE3737"/>
                </a:solidFill>
                <a:latin typeface="Aptos"/>
              </a:rPr>
              <a:t>Not production accuracy</a:t>
            </a:r>
          </a:p>
        </p:txBody>
      </p:sp>
      <p:sp>
        <p:nvSpPr>
          <p:cNvPr id="1048924" name="TextBox 56"/>
          <p:cNvSpPr txBox="1"/>
          <p:nvPr/>
        </p:nvSpPr>
        <p:spPr>
          <a:xfrm>
            <a:off x="502920" y="6547104"/>
            <a:ext cx="996696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documented scenario matrix + eval/score.py • synthetic demo data, not production KPI</a:t>
            </a:r>
          </a:p>
        </p:txBody>
      </p:sp>
      <p:sp>
        <p:nvSpPr>
          <p:cNvPr id="1048925" name="TextBox 57"/>
          <p:cNvSpPr txBox="1"/>
          <p:nvPr/>
        </p:nvSpPr>
        <p:spPr>
          <a:xfrm>
            <a:off x="11201400" y="6547104"/>
            <a:ext cx="45720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8</a:t>
            </a:r>
          </a:p>
        </p:txBody>
      </p:sp>
      <p:sp>
        <p:nvSpPr>
          <p:cNvPr id="1048926" name="Rectangle 58"/>
          <p:cNvSpPr/>
          <p:nvPr/>
        </p:nvSpPr>
        <p:spPr>
          <a:xfrm>
            <a:off x="10378440" y="256032"/>
            <a:ext cx="1143000" cy="292608"/>
          </a:xfrm>
          <a:prstGeom prst="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sz="850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927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8" name="TextBox 2"/>
          <p:cNvSpPr txBox="1"/>
          <p:nvPr/>
        </p:nvSpPr>
        <p:spPr>
          <a:xfrm>
            <a:off x="502920" y="201168"/>
            <a:ext cx="411480" cy="25603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000" i="0">
                <a:solidFill>
                  <a:srgbClr val="265CB4"/>
                </a:solidFill>
                <a:latin typeface="Aptos"/>
              </a:rPr>
              <a:t>09</a:t>
            </a:r>
          </a:p>
        </p:txBody>
      </p:sp>
      <p:sp>
        <p:nvSpPr>
          <p:cNvPr id="1048929" name="TextBox 3"/>
          <p:cNvSpPr txBox="1"/>
          <p:nvPr/>
        </p:nvSpPr>
        <p:spPr>
          <a:xfrm>
            <a:off x="941832" y="128016"/>
            <a:ext cx="10744200" cy="45720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500" i="0">
                <a:solidFill>
                  <a:srgbClr val="0F1F36"/>
                </a:solidFill>
                <a:latin typeface="Aptos"/>
              </a:rPr>
              <a:t>Quality Engineering &amp; Validation</a:t>
            </a:r>
          </a:p>
        </p:txBody>
      </p:sp>
      <p:sp>
        <p:nvSpPr>
          <p:cNvPr id="1048930" name="TextBox 4"/>
          <p:cNvSpPr txBox="1"/>
          <p:nvPr/>
        </p:nvSpPr>
        <p:spPr>
          <a:xfrm>
            <a:off x="941832" y="594360"/>
            <a:ext cx="1060704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050" i="0">
                <a:solidFill>
                  <a:srgbClr val="657285"/>
                </a:solidFill>
                <a:latin typeface="Aptos"/>
              </a:rPr>
              <a:t>Designed for repeatable QA, guardrails and traceability</a:t>
            </a:r>
          </a:p>
        </p:txBody>
      </p:sp>
      <p:sp>
        <p:nvSpPr>
          <p:cNvPr id="1048931" name="Rounded Rectangle 5"/>
          <p:cNvSpPr/>
          <p:nvPr/>
        </p:nvSpPr>
        <p:spPr>
          <a:xfrm>
            <a:off x="640080" y="1417320"/>
            <a:ext cx="1874519" cy="1051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2" name="Oval 6"/>
          <p:cNvSpPr/>
          <p:nvPr/>
        </p:nvSpPr>
        <p:spPr>
          <a:xfrm>
            <a:off x="1353312" y="1609344"/>
            <a:ext cx="457200" cy="457200"/>
          </a:xfrm>
          <a:prstGeom prst="ellipse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3" name="TextBox 7"/>
          <p:cNvSpPr txBox="1"/>
          <p:nvPr/>
        </p:nvSpPr>
        <p:spPr>
          <a:xfrm>
            <a:off x="1353312" y="1737360"/>
            <a:ext cx="457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48934" name="TextBox 8"/>
          <p:cNvSpPr txBox="1"/>
          <p:nvPr/>
        </p:nvSpPr>
        <p:spPr>
          <a:xfrm>
            <a:off x="777240" y="2212848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BUILD</a:t>
            </a:r>
          </a:p>
        </p:txBody>
      </p:sp>
      <p:sp>
        <p:nvSpPr>
          <p:cNvPr id="1048935" name="TextBox 9"/>
          <p:cNvSpPr txBox="1"/>
          <p:nvPr/>
        </p:nvSpPr>
        <p:spPr>
          <a:xfrm>
            <a:off x="777240" y="2468880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69" i="0">
                <a:solidFill>
                  <a:srgbClr val="657285"/>
                </a:solidFill>
                <a:latin typeface="Aptos"/>
              </a:rPr>
              <a:t>compileall</a:t>
            </a:r>
          </a:p>
        </p:txBody>
      </p:sp>
      <p:cxnSp>
        <p:nvCxnSpPr>
          <p:cNvPr id="3145755" name="Connector 10"/>
          <p:cNvCxnSpPr>
            <a:cxnSpLocks/>
          </p:cNvCxnSpPr>
          <p:nvPr/>
        </p:nvCxnSpPr>
        <p:spPr>
          <a:xfrm>
            <a:off x="2514600" y="1938528"/>
            <a:ext cx="320039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36" name="Rounded Rectangle 11"/>
          <p:cNvSpPr/>
          <p:nvPr/>
        </p:nvSpPr>
        <p:spPr>
          <a:xfrm>
            <a:off x="2880360" y="1417320"/>
            <a:ext cx="1874519" cy="1051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7" name="Oval 12"/>
          <p:cNvSpPr/>
          <p:nvPr/>
        </p:nvSpPr>
        <p:spPr>
          <a:xfrm>
            <a:off x="3593592" y="1609344"/>
            <a:ext cx="457200" cy="457200"/>
          </a:xfrm>
          <a:prstGeom prst="ellipse"/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8" name="TextBox 13"/>
          <p:cNvSpPr txBox="1"/>
          <p:nvPr/>
        </p:nvSpPr>
        <p:spPr>
          <a:xfrm>
            <a:off x="3593592" y="1737360"/>
            <a:ext cx="457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48939" name="TextBox 14"/>
          <p:cNvSpPr txBox="1"/>
          <p:nvPr/>
        </p:nvSpPr>
        <p:spPr>
          <a:xfrm>
            <a:off x="3017520" y="2212848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UNIT</a:t>
            </a:r>
          </a:p>
        </p:txBody>
      </p:sp>
      <p:sp>
        <p:nvSpPr>
          <p:cNvPr id="1048940" name="TextBox 15"/>
          <p:cNvSpPr txBox="1"/>
          <p:nvPr/>
        </p:nvSpPr>
        <p:spPr>
          <a:xfrm>
            <a:off x="3017520" y="2468880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69" i="0">
                <a:solidFill>
                  <a:srgbClr val="657285"/>
                </a:solidFill>
                <a:latin typeface="Aptos"/>
              </a:rPr>
              <a:t>pytest</a:t>
            </a:r>
          </a:p>
        </p:txBody>
      </p:sp>
      <p:cxnSp>
        <p:nvCxnSpPr>
          <p:cNvPr id="3145756" name="Connector 16"/>
          <p:cNvCxnSpPr>
            <a:cxnSpLocks/>
          </p:cNvCxnSpPr>
          <p:nvPr/>
        </p:nvCxnSpPr>
        <p:spPr>
          <a:xfrm>
            <a:off x="4754880" y="1938528"/>
            <a:ext cx="320040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41" name="Rounded Rectangle 17"/>
          <p:cNvSpPr/>
          <p:nvPr/>
        </p:nvSpPr>
        <p:spPr>
          <a:xfrm>
            <a:off x="5120640" y="1417320"/>
            <a:ext cx="1874519" cy="1051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2" name="Oval 18"/>
          <p:cNvSpPr/>
          <p:nvPr/>
        </p:nvSpPr>
        <p:spPr>
          <a:xfrm>
            <a:off x="5833872" y="1609344"/>
            <a:ext cx="457200" cy="457200"/>
          </a:xfrm>
          <a:prstGeom prst="ellipse"/>
          <a:solidFill>
            <a:srgbClr val="00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3" name="TextBox 19"/>
          <p:cNvSpPr txBox="1"/>
          <p:nvPr/>
        </p:nvSpPr>
        <p:spPr>
          <a:xfrm>
            <a:off x="5833872" y="1737360"/>
            <a:ext cx="457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48944" name="TextBox 20"/>
          <p:cNvSpPr txBox="1"/>
          <p:nvPr/>
        </p:nvSpPr>
        <p:spPr>
          <a:xfrm>
            <a:off x="5257800" y="2212848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VERIFY</a:t>
            </a:r>
          </a:p>
        </p:txBody>
      </p:sp>
      <p:sp>
        <p:nvSpPr>
          <p:cNvPr id="1048945" name="TextBox 21"/>
          <p:cNvSpPr txBox="1"/>
          <p:nvPr/>
        </p:nvSpPr>
        <p:spPr>
          <a:xfrm>
            <a:off x="5257800" y="2468880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69" i="0">
                <a:solidFill>
                  <a:srgbClr val="657285"/>
                </a:solidFill>
                <a:latin typeface="Aptos"/>
              </a:rPr>
              <a:t>verify.py</a:t>
            </a:r>
          </a:p>
        </p:txBody>
      </p:sp>
      <p:cxnSp>
        <p:nvCxnSpPr>
          <p:cNvPr id="3145757" name="Connector 22"/>
          <p:cNvCxnSpPr>
            <a:cxnSpLocks/>
          </p:cNvCxnSpPr>
          <p:nvPr/>
        </p:nvCxnSpPr>
        <p:spPr>
          <a:xfrm>
            <a:off x="6995160" y="1938528"/>
            <a:ext cx="320040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46" name="Rounded Rectangle 23"/>
          <p:cNvSpPr/>
          <p:nvPr/>
        </p:nvSpPr>
        <p:spPr>
          <a:xfrm>
            <a:off x="7360920" y="1417320"/>
            <a:ext cx="1874519" cy="1051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7" name="Oval 24"/>
          <p:cNvSpPr/>
          <p:nvPr/>
        </p:nvSpPr>
        <p:spPr>
          <a:xfrm>
            <a:off x="8074152" y="1609344"/>
            <a:ext cx="457200" cy="457200"/>
          </a:xfrm>
          <a:prstGeom prst="ellipse"/>
          <a:solidFill>
            <a:srgbClr val="69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8" name="TextBox 25"/>
          <p:cNvSpPr txBox="1"/>
          <p:nvPr/>
        </p:nvSpPr>
        <p:spPr>
          <a:xfrm>
            <a:off x="8074152" y="1737360"/>
            <a:ext cx="457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48949" name="TextBox 26"/>
          <p:cNvSpPr txBox="1"/>
          <p:nvPr/>
        </p:nvSpPr>
        <p:spPr>
          <a:xfrm>
            <a:off x="7498080" y="2212848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SCORE</a:t>
            </a:r>
          </a:p>
        </p:txBody>
      </p:sp>
      <p:sp>
        <p:nvSpPr>
          <p:cNvPr id="1048950" name="TextBox 27"/>
          <p:cNvSpPr txBox="1"/>
          <p:nvPr/>
        </p:nvSpPr>
        <p:spPr>
          <a:xfrm>
            <a:off x="7498080" y="2468880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69" i="0">
                <a:solidFill>
                  <a:srgbClr val="657285"/>
                </a:solidFill>
                <a:latin typeface="Aptos"/>
              </a:rPr>
              <a:t>eval.score</a:t>
            </a:r>
          </a:p>
        </p:txBody>
      </p:sp>
      <p:cxnSp>
        <p:nvCxnSpPr>
          <p:cNvPr id="3145758" name="Connector 28"/>
          <p:cNvCxnSpPr>
            <a:cxnSpLocks/>
          </p:cNvCxnSpPr>
          <p:nvPr/>
        </p:nvCxnSpPr>
        <p:spPr>
          <a:xfrm>
            <a:off x="9235440" y="1938528"/>
            <a:ext cx="320040" cy="0"/>
          </a:xfrm>
          <a:prstGeom prst="line"/>
          <a:ln w="19050">
            <a:solidFill>
              <a:srgbClr val="65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51" name="Rounded Rectangle 29"/>
          <p:cNvSpPr/>
          <p:nvPr/>
        </p:nvSpPr>
        <p:spPr>
          <a:xfrm>
            <a:off x="9601200" y="1417320"/>
            <a:ext cx="1874519" cy="105156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2" name="Oval 30"/>
          <p:cNvSpPr/>
          <p:nvPr/>
        </p:nvSpPr>
        <p:spPr>
          <a:xfrm>
            <a:off x="10314432" y="1609344"/>
            <a:ext cx="457200" cy="457200"/>
          </a:xfrm>
          <a:prstGeom prst="ellipse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3" name="TextBox 31"/>
          <p:cNvSpPr txBox="1"/>
          <p:nvPr/>
        </p:nvSpPr>
        <p:spPr>
          <a:xfrm>
            <a:off x="10314432" y="1737360"/>
            <a:ext cx="457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048954" name="TextBox 32"/>
          <p:cNvSpPr txBox="1"/>
          <p:nvPr/>
        </p:nvSpPr>
        <p:spPr>
          <a:xfrm>
            <a:off x="9738360" y="2212848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050" i="0">
                <a:solidFill>
                  <a:srgbClr val="0F1F36"/>
                </a:solidFill>
                <a:latin typeface="Aptos"/>
              </a:rPr>
              <a:t>UI</a:t>
            </a:r>
          </a:p>
        </p:txBody>
      </p:sp>
      <p:sp>
        <p:nvSpPr>
          <p:cNvPr id="1048955" name="TextBox 33"/>
          <p:cNvSpPr txBox="1"/>
          <p:nvPr/>
        </p:nvSpPr>
        <p:spPr>
          <a:xfrm>
            <a:off x="9738360" y="2468880"/>
            <a:ext cx="1600200" cy="201168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869" i="0">
                <a:solidFill>
                  <a:srgbClr val="657285"/>
                </a:solidFill>
                <a:latin typeface="Aptos"/>
              </a:rPr>
              <a:t>Streamlit / React</a:t>
            </a:r>
          </a:p>
        </p:txBody>
      </p:sp>
      <p:sp>
        <p:nvSpPr>
          <p:cNvPr id="1048956" name="Rounded Rectangle 34"/>
          <p:cNvSpPr/>
          <p:nvPr/>
        </p:nvSpPr>
        <p:spPr>
          <a:xfrm>
            <a:off x="640080" y="2971800"/>
            <a:ext cx="10972800" cy="2240280"/>
          </a:xfrm>
          <a:prstGeom prst="roundRect"/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7" name="TextBox 35"/>
          <p:cNvSpPr txBox="1"/>
          <p:nvPr/>
        </p:nvSpPr>
        <p:spPr>
          <a:xfrm>
            <a:off x="868680" y="3218688"/>
            <a:ext cx="2834640" cy="25603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0F1F36"/>
                </a:solidFill>
                <a:latin typeface="Aptos"/>
              </a:rPr>
              <a:t>VALIDATION CHECKLIST</a:t>
            </a:r>
          </a:p>
        </p:txBody>
      </p:sp>
      <p:sp>
        <p:nvSpPr>
          <p:cNvPr id="1048958" name="Oval 36"/>
          <p:cNvSpPr/>
          <p:nvPr/>
        </p:nvSpPr>
        <p:spPr>
          <a:xfrm>
            <a:off x="868680" y="3657600"/>
            <a:ext cx="164592" cy="164592"/>
          </a:xfrm>
          <a:prstGeom prst="ellipse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9" name="TextBox 37"/>
          <p:cNvSpPr txBox="1"/>
          <p:nvPr/>
        </p:nvSpPr>
        <p:spPr>
          <a:xfrm>
            <a:off x="1143000" y="3639312"/>
            <a:ext cx="2697480" cy="21945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980" i="0">
                <a:solidFill>
                  <a:srgbClr val="212A38"/>
                </a:solidFill>
                <a:latin typeface="Aptos"/>
              </a:rPr>
              <a:t>Python tests</a:t>
            </a:r>
          </a:p>
        </p:txBody>
      </p:sp>
      <p:sp>
        <p:nvSpPr>
          <p:cNvPr id="1048960" name="TextBox 38"/>
          <p:cNvSpPr txBox="1"/>
          <p:nvPr/>
        </p:nvSpPr>
        <p:spPr>
          <a:xfrm>
            <a:off x="1143000" y="3886200"/>
            <a:ext cx="269748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850" i="0">
                <a:solidFill>
                  <a:srgbClr val="657285"/>
                </a:solidFill>
                <a:latin typeface="Aptos"/>
              </a:rPr>
              <a:t>pytest -q</a:t>
            </a:r>
          </a:p>
        </p:txBody>
      </p:sp>
      <p:sp>
        <p:nvSpPr>
          <p:cNvPr id="1048961" name="Oval 39"/>
          <p:cNvSpPr/>
          <p:nvPr/>
        </p:nvSpPr>
        <p:spPr>
          <a:xfrm>
            <a:off x="4389120" y="3657600"/>
            <a:ext cx="164592" cy="164592"/>
          </a:xfrm>
          <a:prstGeom prst="ellipse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62" name="TextBox 40"/>
          <p:cNvSpPr txBox="1"/>
          <p:nvPr/>
        </p:nvSpPr>
        <p:spPr>
          <a:xfrm>
            <a:off x="4663440" y="3639312"/>
            <a:ext cx="2697480" cy="21945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980" i="0">
                <a:solidFill>
                  <a:srgbClr val="212A38"/>
                </a:solidFill>
                <a:latin typeface="Aptos"/>
              </a:rPr>
              <a:t>Repository verification</a:t>
            </a:r>
          </a:p>
        </p:txBody>
      </p:sp>
      <p:sp>
        <p:nvSpPr>
          <p:cNvPr id="1048963" name="TextBox 41"/>
          <p:cNvSpPr txBox="1"/>
          <p:nvPr/>
        </p:nvSpPr>
        <p:spPr>
          <a:xfrm>
            <a:off x="4663440" y="3886200"/>
            <a:ext cx="269748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850" i="0">
                <a:solidFill>
                  <a:srgbClr val="657285"/>
                </a:solidFill>
                <a:latin typeface="Aptos"/>
              </a:rPr>
              <a:t>verify.py</a:t>
            </a:r>
          </a:p>
        </p:txBody>
      </p:sp>
      <p:sp>
        <p:nvSpPr>
          <p:cNvPr id="1048964" name="Oval 42"/>
          <p:cNvSpPr/>
          <p:nvPr/>
        </p:nvSpPr>
        <p:spPr>
          <a:xfrm>
            <a:off x="7909560" y="3657600"/>
            <a:ext cx="164592" cy="164592"/>
          </a:xfrm>
          <a:prstGeom prst="ellipse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65" name="TextBox 43"/>
          <p:cNvSpPr txBox="1"/>
          <p:nvPr/>
        </p:nvSpPr>
        <p:spPr>
          <a:xfrm>
            <a:off x="8183880" y="3639312"/>
            <a:ext cx="2697480" cy="21945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980" i="0">
                <a:solidFill>
                  <a:srgbClr val="212A38"/>
                </a:solidFill>
                <a:latin typeface="Aptos"/>
              </a:rPr>
              <a:t>Compilation</a:t>
            </a:r>
          </a:p>
        </p:txBody>
      </p:sp>
      <p:sp>
        <p:nvSpPr>
          <p:cNvPr id="1048966" name="TextBox 44"/>
          <p:cNvSpPr txBox="1"/>
          <p:nvPr/>
        </p:nvSpPr>
        <p:spPr>
          <a:xfrm>
            <a:off x="8183880" y="3886200"/>
            <a:ext cx="269748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850" i="0">
                <a:solidFill>
                  <a:srgbClr val="657285"/>
                </a:solidFill>
                <a:latin typeface="Aptos"/>
              </a:rPr>
              <a:t>compileall</a:t>
            </a:r>
          </a:p>
        </p:txBody>
      </p:sp>
      <p:sp>
        <p:nvSpPr>
          <p:cNvPr id="1048967" name="Oval 45"/>
          <p:cNvSpPr/>
          <p:nvPr/>
        </p:nvSpPr>
        <p:spPr>
          <a:xfrm>
            <a:off x="868680" y="4315968"/>
            <a:ext cx="164592" cy="164592"/>
          </a:xfrm>
          <a:prstGeom prst="ellipse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68" name="TextBox 46"/>
          <p:cNvSpPr txBox="1"/>
          <p:nvPr/>
        </p:nvSpPr>
        <p:spPr>
          <a:xfrm>
            <a:off x="1143000" y="4297680"/>
            <a:ext cx="2697480" cy="21945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980" i="0">
                <a:solidFill>
                  <a:srgbClr val="212A38"/>
                </a:solidFill>
                <a:latin typeface="Aptos"/>
              </a:rPr>
              <a:t>Frontend build</a:t>
            </a:r>
          </a:p>
        </p:txBody>
      </p:sp>
      <p:sp>
        <p:nvSpPr>
          <p:cNvPr id="1048969" name="TextBox 47"/>
          <p:cNvSpPr txBox="1"/>
          <p:nvPr/>
        </p:nvSpPr>
        <p:spPr>
          <a:xfrm>
            <a:off x="1143000" y="4544568"/>
            <a:ext cx="269748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850" i="0">
                <a:solidFill>
                  <a:srgbClr val="657285"/>
                </a:solidFill>
                <a:latin typeface="Aptos"/>
              </a:rPr>
              <a:t>npm run build</a:t>
            </a:r>
          </a:p>
        </p:txBody>
      </p:sp>
      <p:sp>
        <p:nvSpPr>
          <p:cNvPr id="1048970" name="Oval 48"/>
          <p:cNvSpPr/>
          <p:nvPr/>
        </p:nvSpPr>
        <p:spPr>
          <a:xfrm>
            <a:off x="4389120" y="4315968"/>
            <a:ext cx="164592" cy="164592"/>
          </a:xfrm>
          <a:prstGeom prst="ellipse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1" name="TextBox 49"/>
          <p:cNvSpPr txBox="1"/>
          <p:nvPr/>
        </p:nvSpPr>
        <p:spPr>
          <a:xfrm>
            <a:off x="4663440" y="4297680"/>
            <a:ext cx="2697480" cy="21945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980" i="0">
                <a:solidFill>
                  <a:srgbClr val="212A38"/>
                </a:solidFill>
                <a:latin typeface="Aptos"/>
              </a:rPr>
              <a:t>Demo states</a:t>
            </a:r>
          </a:p>
        </p:txBody>
      </p:sp>
      <p:sp>
        <p:nvSpPr>
          <p:cNvPr id="1048972" name="TextBox 50"/>
          <p:cNvSpPr txBox="1"/>
          <p:nvPr/>
        </p:nvSpPr>
        <p:spPr>
          <a:xfrm>
            <a:off x="4663440" y="4544568"/>
            <a:ext cx="269748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850" i="0">
                <a:solidFill>
                  <a:srgbClr val="657285"/>
                </a:solidFill>
                <a:latin typeface="Aptos"/>
              </a:rPr>
              <a:t>safe / expired / escalation</a:t>
            </a:r>
          </a:p>
        </p:txBody>
      </p:sp>
      <p:sp>
        <p:nvSpPr>
          <p:cNvPr id="1048973" name="Oval 51"/>
          <p:cNvSpPr/>
          <p:nvPr/>
        </p:nvSpPr>
        <p:spPr>
          <a:xfrm>
            <a:off x="7909560" y="4315968"/>
            <a:ext cx="164592" cy="164592"/>
          </a:xfrm>
          <a:prstGeom prst="ellipse"/>
          <a:solidFill>
            <a:srgbClr val="2F8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4" name="TextBox 52"/>
          <p:cNvSpPr txBox="1"/>
          <p:nvPr/>
        </p:nvSpPr>
        <p:spPr>
          <a:xfrm>
            <a:off x="8183880" y="4297680"/>
            <a:ext cx="2697480" cy="219456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980" i="0">
                <a:solidFill>
                  <a:srgbClr val="212A38"/>
                </a:solidFill>
                <a:latin typeface="Aptos"/>
              </a:rPr>
              <a:t>Audit controls</a:t>
            </a:r>
          </a:p>
        </p:txBody>
      </p:sp>
      <p:sp>
        <p:nvSpPr>
          <p:cNvPr id="1048975" name="TextBox 53"/>
          <p:cNvSpPr txBox="1"/>
          <p:nvPr/>
        </p:nvSpPr>
        <p:spPr>
          <a:xfrm>
            <a:off x="8183880" y="4544568"/>
            <a:ext cx="2697480" cy="18288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850" i="0">
                <a:solidFill>
                  <a:srgbClr val="657285"/>
                </a:solidFill>
                <a:latin typeface="Aptos"/>
              </a:rPr>
              <a:t>trace + redaction + human approval</a:t>
            </a:r>
          </a:p>
        </p:txBody>
      </p:sp>
      <p:sp>
        <p:nvSpPr>
          <p:cNvPr id="1048976" name="Rounded Rectangle 54"/>
          <p:cNvSpPr/>
          <p:nvPr/>
        </p:nvSpPr>
        <p:spPr>
          <a:xfrm>
            <a:off x="1920240" y="5623560"/>
            <a:ext cx="8321040" cy="310896"/>
          </a:xfrm>
          <a:prstGeom prst="round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7" name="TextBox 55"/>
          <p:cNvSpPr txBox="1"/>
          <p:nvPr/>
        </p:nvSpPr>
        <p:spPr>
          <a:xfrm>
            <a:off x="1920240" y="5641848"/>
            <a:ext cx="83210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Repeatable • deterministic • traceable • demo-safe</a:t>
            </a:r>
          </a:p>
        </p:txBody>
      </p:sp>
      <p:sp>
        <p:nvSpPr>
          <p:cNvPr id="1048978" name="TextBox 56"/>
          <p:cNvSpPr txBox="1"/>
          <p:nvPr/>
        </p:nvSpPr>
        <p:spPr>
          <a:xfrm>
            <a:off x="502920" y="6547104"/>
            <a:ext cx="996696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750" i="1">
                <a:solidFill>
                  <a:srgbClr val="657285"/>
                </a:solidFill>
                <a:latin typeface="Aptos"/>
              </a:rPr>
              <a:t>Source: PaymentException GitHub repository • synthetic/offline demo</a:t>
            </a:r>
          </a:p>
        </p:txBody>
      </p:sp>
      <p:sp>
        <p:nvSpPr>
          <p:cNvPr id="1048979" name="TextBox 57"/>
          <p:cNvSpPr txBox="1"/>
          <p:nvPr/>
        </p:nvSpPr>
        <p:spPr>
          <a:xfrm>
            <a:off x="11201400" y="6547104"/>
            <a:ext cx="45720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r"/>
            <a:r>
              <a:rPr b="0" sz="750" i="0">
                <a:solidFill>
                  <a:srgbClr val="6572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980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81" name="TextBox 2"/>
          <p:cNvSpPr txBox="1"/>
          <p:nvPr/>
        </p:nvSpPr>
        <p:spPr>
          <a:xfrm>
            <a:off x="640080" y="274320"/>
            <a:ext cx="18288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100" i="0">
                <a:solidFill>
                  <a:srgbClr val="0097A7"/>
                </a:solidFill>
                <a:latin typeface="Aptos"/>
              </a:rPr>
              <a:t>10–15 MINUTE DEMO</a:t>
            </a:r>
          </a:p>
        </p:txBody>
      </p:sp>
      <p:sp>
        <p:nvSpPr>
          <p:cNvPr id="1048982" name="TextBox 3"/>
          <p:cNvSpPr txBox="1"/>
          <p:nvPr/>
        </p:nvSpPr>
        <p:spPr>
          <a:xfrm>
            <a:off x="640080" y="685800"/>
            <a:ext cx="10881360" cy="59436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2700" i="0">
                <a:solidFill>
                  <a:srgbClr val="FFFFFF"/>
                </a:solidFill>
                <a:latin typeface="Aptos"/>
              </a:rPr>
              <a:t>Recommended Presentation Flow</a:t>
            </a:r>
          </a:p>
        </p:txBody>
      </p:sp>
      <p:sp>
        <p:nvSpPr>
          <p:cNvPr id="1048983" name="Rounded Rectangle 4"/>
          <p:cNvSpPr/>
          <p:nvPr/>
        </p:nvSpPr>
        <p:spPr>
          <a:xfrm>
            <a:off x="685800" y="1600200"/>
            <a:ext cx="123444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84" name="TextBox 5"/>
          <p:cNvSpPr txBox="1"/>
          <p:nvPr/>
        </p:nvSpPr>
        <p:spPr>
          <a:xfrm>
            <a:off x="685800" y="1618488"/>
            <a:ext cx="12344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0:00–1:30</a:t>
            </a:r>
          </a:p>
        </p:txBody>
      </p:sp>
      <p:sp>
        <p:nvSpPr>
          <p:cNvPr id="1048985" name="TextBox 6"/>
          <p:cNvSpPr txBox="1"/>
          <p:nvPr/>
        </p:nvSpPr>
        <p:spPr>
          <a:xfrm>
            <a:off x="2148840" y="1581912"/>
            <a:ext cx="25603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FFFFFF"/>
                </a:solidFill>
                <a:latin typeface="Aptos"/>
              </a:rPr>
              <a:t>Context &amp; objective</a:t>
            </a:r>
          </a:p>
        </p:txBody>
      </p:sp>
      <p:sp>
        <p:nvSpPr>
          <p:cNvPr id="1048986" name="TextBox 7"/>
          <p:cNvSpPr txBox="1"/>
          <p:nvPr/>
        </p:nvSpPr>
        <p:spPr>
          <a:xfrm>
            <a:off x="4572000" y="1581912"/>
            <a:ext cx="64008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00" i="0">
                <a:solidFill>
                  <a:srgbClr val="C9D6E8"/>
                </a:solidFill>
                <a:latin typeface="Aptos"/>
              </a:rPr>
              <a:t>Problem + target operating model</a:t>
            </a:r>
          </a:p>
        </p:txBody>
      </p:sp>
      <p:sp>
        <p:nvSpPr>
          <p:cNvPr id="1048987" name="Rounded Rectangle 8"/>
          <p:cNvSpPr/>
          <p:nvPr/>
        </p:nvSpPr>
        <p:spPr>
          <a:xfrm>
            <a:off x="685800" y="2258568"/>
            <a:ext cx="123444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88" name="TextBox 9"/>
          <p:cNvSpPr txBox="1"/>
          <p:nvPr/>
        </p:nvSpPr>
        <p:spPr>
          <a:xfrm>
            <a:off x="685800" y="2276856"/>
            <a:ext cx="12344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1:30–4:00</a:t>
            </a:r>
          </a:p>
        </p:txBody>
      </p:sp>
      <p:sp>
        <p:nvSpPr>
          <p:cNvPr id="1048989" name="TextBox 10"/>
          <p:cNvSpPr txBox="1"/>
          <p:nvPr/>
        </p:nvSpPr>
        <p:spPr>
          <a:xfrm>
            <a:off x="2148840" y="2240279"/>
            <a:ext cx="25603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FFFFFF"/>
                </a:solidFill>
                <a:latin typeface="Aptos"/>
              </a:rPr>
              <a:t>Customer journey</a:t>
            </a:r>
          </a:p>
        </p:txBody>
      </p:sp>
      <p:sp>
        <p:nvSpPr>
          <p:cNvPr id="1048990" name="TextBox 11"/>
          <p:cNvSpPr txBox="1"/>
          <p:nvPr/>
        </p:nvSpPr>
        <p:spPr>
          <a:xfrm>
            <a:off x="4572000" y="2240279"/>
            <a:ext cx="64008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00" i="0">
                <a:solidFill>
                  <a:srgbClr val="C9D6E8"/>
                </a:solidFill>
                <a:latin typeface="Aptos"/>
              </a:rPr>
              <a:t>Natural-language claim → matching → classification</a:t>
            </a:r>
          </a:p>
        </p:txBody>
      </p:sp>
      <p:sp>
        <p:nvSpPr>
          <p:cNvPr id="1048991" name="Rounded Rectangle 12"/>
          <p:cNvSpPr/>
          <p:nvPr/>
        </p:nvSpPr>
        <p:spPr>
          <a:xfrm>
            <a:off x="685800" y="2916936"/>
            <a:ext cx="123444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2" name="TextBox 13"/>
          <p:cNvSpPr txBox="1"/>
          <p:nvPr/>
        </p:nvSpPr>
        <p:spPr>
          <a:xfrm>
            <a:off x="685800" y="2935224"/>
            <a:ext cx="12344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4:00–7:30</a:t>
            </a:r>
          </a:p>
        </p:txBody>
      </p:sp>
      <p:sp>
        <p:nvSpPr>
          <p:cNvPr id="1048993" name="TextBox 14"/>
          <p:cNvSpPr txBox="1"/>
          <p:nvPr/>
        </p:nvSpPr>
        <p:spPr>
          <a:xfrm>
            <a:off x="2148840" y="2898648"/>
            <a:ext cx="25603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FFFFFF"/>
                </a:solidFill>
                <a:latin typeface="Aptos"/>
              </a:rPr>
              <a:t>Operations console</a:t>
            </a:r>
          </a:p>
        </p:txBody>
      </p:sp>
      <p:sp>
        <p:nvSpPr>
          <p:cNvPr id="1048994" name="TextBox 15"/>
          <p:cNvSpPr txBox="1"/>
          <p:nvPr/>
        </p:nvSpPr>
        <p:spPr>
          <a:xfrm>
            <a:off x="4572000" y="2898648"/>
            <a:ext cx="64008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00" i="0">
                <a:solidFill>
                  <a:srgbClr val="C9D6E8"/>
                </a:solidFill>
                <a:latin typeface="Aptos"/>
              </a:rPr>
              <a:t>Queue → cognitive trace → Smart Audit</a:t>
            </a:r>
          </a:p>
        </p:txBody>
      </p:sp>
      <p:sp>
        <p:nvSpPr>
          <p:cNvPr id="1048995" name="Rounded Rectangle 16"/>
          <p:cNvSpPr/>
          <p:nvPr/>
        </p:nvSpPr>
        <p:spPr>
          <a:xfrm>
            <a:off x="685800" y="3575304"/>
            <a:ext cx="123444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6" name="TextBox 17"/>
          <p:cNvSpPr txBox="1"/>
          <p:nvPr/>
        </p:nvSpPr>
        <p:spPr>
          <a:xfrm>
            <a:off x="685800" y="3593592"/>
            <a:ext cx="12344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7:30–10:30</a:t>
            </a:r>
          </a:p>
        </p:txBody>
      </p:sp>
      <p:sp>
        <p:nvSpPr>
          <p:cNvPr id="1048997" name="TextBox 18"/>
          <p:cNvSpPr txBox="1"/>
          <p:nvPr/>
        </p:nvSpPr>
        <p:spPr>
          <a:xfrm>
            <a:off x="2148840" y="3557016"/>
            <a:ext cx="25603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FFFFFF"/>
                </a:solidFill>
                <a:latin typeface="Aptos"/>
              </a:rPr>
              <a:t>Policy wow factor</a:t>
            </a:r>
          </a:p>
        </p:txBody>
      </p:sp>
      <p:sp>
        <p:nvSpPr>
          <p:cNvPr id="1048998" name="TextBox 19"/>
          <p:cNvSpPr txBox="1"/>
          <p:nvPr/>
        </p:nvSpPr>
        <p:spPr>
          <a:xfrm>
            <a:off x="4572000" y="3557016"/>
            <a:ext cx="64008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00" i="0">
                <a:solidFill>
                  <a:srgbClr val="C9D6E8"/>
                </a:solidFill>
                <a:latin typeface="Aptos"/>
              </a:rPr>
              <a:t>SLA slider → eligible / expired / no-remedy</a:t>
            </a:r>
          </a:p>
        </p:txBody>
      </p:sp>
      <p:sp>
        <p:nvSpPr>
          <p:cNvPr id="1048999" name="Rounded Rectangle 20"/>
          <p:cNvSpPr/>
          <p:nvPr/>
        </p:nvSpPr>
        <p:spPr>
          <a:xfrm>
            <a:off x="685800" y="4233672"/>
            <a:ext cx="123444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00" name="TextBox 21"/>
          <p:cNvSpPr txBox="1"/>
          <p:nvPr/>
        </p:nvSpPr>
        <p:spPr>
          <a:xfrm>
            <a:off x="685800" y="4251959"/>
            <a:ext cx="12344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10:30–12:30</a:t>
            </a:r>
          </a:p>
        </p:txBody>
      </p:sp>
      <p:sp>
        <p:nvSpPr>
          <p:cNvPr id="1049001" name="TextBox 22"/>
          <p:cNvSpPr txBox="1"/>
          <p:nvPr/>
        </p:nvSpPr>
        <p:spPr>
          <a:xfrm>
            <a:off x="2148840" y="4215384"/>
            <a:ext cx="25603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FFFFFF"/>
                </a:solidFill>
                <a:latin typeface="Aptos"/>
              </a:rPr>
              <a:t>QA &amp; analytics</a:t>
            </a:r>
          </a:p>
        </p:txBody>
      </p:sp>
      <p:sp>
        <p:nvSpPr>
          <p:cNvPr id="1049002" name="TextBox 23"/>
          <p:cNvSpPr txBox="1"/>
          <p:nvPr/>
        </p:nvSpPr>
        <p:spPr>
          <a:xfrm>
            <a:off x="4572000" y="4215384"/>
            <a:ext cx="64008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00" i="0">
                <a:solidFill>
                  <a:srgbClr val="C9D6E8"/>
                </a:solidFill>
                <a:latin typeface="Aptos"/>
              </a:rPr>
              <a:t>Scenario coverage + validation controls</a:t>
            </a:r>
          </a:p>
        </p:txBody>
      </p:sp>
      <p:sp>
        <p:nvSpPr>
          <p:cNvPr id="1049003" name="Rounded Rectangle 24"/>
          <p:cNvSpPr/>
          <p:nvPr/>
        </p:nvSpPr>
        <p:spPr>
          <a:xfrm>
            <a:off x="685800" y="4892040"/>
            <a:ext cx="1234440" cy="310896"/>
          </a:xfrm>
          <a:prstGeom prst="roundRect"/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04" name="TextBox 25"/>
          <p:cNvSpPr txBox="1"/>
          <p:nvPr/>
        </p:nvSpPr>
        <p:spPr>
          <a:xfrm>
            <a:off x="685800" y="4910327"/>
            <a:ext cx="1234440" cy="237744"/>
          </a:xfrm>
          <a:prstGeom prst="rect"/>
          <a:noFill/>
        </p:spPr>
        <p:txBody>
          <a:bodyPr anchor="ctr" bIns="27432" lIns="27432" rIns="27432" tIns="27432" wrap="none">
            <a:spAutoFit/>
          </a:bodyPr>
          <a:p>
            <a:pPr algn="ctr"/>
            <a:r>
              <a:rPr b="1" sz="950" i="0">
                <a:solidFill>
                  <a:srgbClr val="FFFFFF"/>
                </a:solidFill>
                <a:latin typeface="Aptos"/>
              </a:rPr>
              <a:t>12:30–15:00</a:t>
            </a:r>
          </a:p>
        </p:txBody>
      </p:sp>
      <p:sp>
        <p:nvSpPr>
          <p:cNvPr id="1049005" name="TextBox 26"/>
          <p:cNvSpPr txBox="1"/>
          <p:nvPr/>
        </p:nvSpPr>
        <p:spPr>
          <a:xfrm>
            <a:off x="2148840" y="4873752"/>
            <a:ext cx="256032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1" sz="1250" i="0">
                <a:solidFill>
                  <a:srgbClr val="FFFFFF"/>
                </a:solidFill>
                <a:latin typeface="Aptos"/>
              </a:rPr>
              <a:t>Close</a:t>
            </a:r>
          </a:p>
        </p:txBody>
      </p:sp>
      <p:sp>
        <p:nvSpPr>
          <p:cNvPr id="1049006" name="TextBox 27"/>
          <p:cNvSpPr txBox="1"/>
          <p:nvPr/>
        </p:nvSpPr>
        <p:spPr>
          <a:xfrm>
            <a:off x="4572000" y="4873752"/>
            <a:ext cx="6400800" cy="274320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l"/>
            <a:r>
              <a:rPr b="0" sz="1100" i="0">
                <a:solidFill>
                  <a:srgbClr val="C9D6E8"/>
                </a:solidFill>
                <a:latin typeface="Aptos"/>
              </a:rPr>
              <a:t>Business value + production next steps</a:t>
            </a:r>
          </a:p>
        </p:txBody>
      </p:sp>
      <p:sp>
        <p:nvSpPr>
          <p:cNvPr id="1049007" name="Rounded Rectangle 28"/>
          <p:cNvSpPr/>
          <p:nvPr/>
        </p:nvSpPr>
        <p:spPr>
          <a:xfrm>
            <a:off x="685800" y="5623560"/>
            <a:ext cx="10835640" cy="685800"/>
          </a:xfrm>
          <a:prstGeom prst="round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08" name="TextBox 29"/>
          <p:cNvSpPr txBox="1"/>
          <p:nvPr/>
        </p:nvSpPr>
        <p:spPr>
          <a:xfrm>
            <a:off x="914400" y="5769864"/>
            <a:ext cx="10378440" cy="34747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1" sz="1600" i="0">
                <a:solidFill>
                  <a:srgbClr val="0F1F36"/>
                </a:solidFill>
                <a:latin typeface="Aptos"/>
              </a:rPr>
              <a:t>Faster understanding. Deterministic control. Human accountability.</a:t>
            </a:r>
          </a:p>
        </p:txBody>
      </p:sp>
      <p:sp>
        <p:nvSpPr>
          <p:cNvPr id="1049009" name="TextBox 30"/>
          <p:cNvSpPr txBox="1"/>
          <p:nvPr/>
        </p:nvSpPr>
        <p:spPr>
          <a:xfrm>
            <a:off x="685800" y="6446520"/>
            <a:ext cx="10789920" cy="164592"/>
          </a:xfrm>
          <a:prstGeom prst="rect"/>
          <a:noFill/>
        </p:spPr>
        <p:txBody>
          <a:bodyPr anchor="t" bIns="27432" lIns="27432" rIns="27432" tIns="27432" wrap="none">
            <a:spAutoFit/>
          </a:bodyPr>
          <a:p>
            <a:pPr algn="ctr"/>
            <a:r>
              <a:rPr b="0" sz="750" i="1">
                <a:solidFill>
                  <a:srgbClr val="B0C0D7"/>
                </a:solidFill>
                <a:latin typeface="Aptos"/>
              </a:rPr>
              <a:t>Implementation note: offline synthetic prototype; no real bank, payment network, SMTP provider or paid AI service is contacted by default.</a:t>
            </a:r>
          </a:p>
        </p:txBody>
      </p:sp>
      <p:sp>
        <p:nvSpPr>
          <p:cNvPr id="1049010" name="Rectangle 31"/>
          <p:cNvSpPr/>
          <p:nvPr/>
        </p:nvSpPr>
        <p:spPr>
          <a:xfrm>
            <a:off x="10378440" y="256032"/>
            <a:ext cx="1143000" cy="292608"/>
          </a:xfrm>
          <a:prstGeom prst="rect"/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sz="850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CPH2649</dc:creator>
  <cp:lastModifiedBy>Steve Canny</cp:lastModifiedBy>
  <dcterms:created xsi:type="dcterms:W3CDTF">2013-01-26T22:14:16Z</dcterms:created>
  <dcterms:modified xsi:type="dcterms:W3CDTF">2026-09-23T05:04:02Z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eac5baf6206b4ddfabf2bc7be861b6bb_23</vt:lpwstr>
  </property>
</Properties>
</file>